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34"/>
  </p:notesMasterIdLst>
  <p:handoutMasterIdLst>
    <p:handoutMasterId r:id="rId35"/>
  </p:handoutMasterIdLst>
  <p:sldIdLst>
    <p:sldId id="298" r:id="rId5"/>
    <p:sldId id="297" r:id="rId6"/>
    <p:sldId id="299" r:id="rId7"/>
    <p:sldId id="300" r:id="rId8"/>
    <p:sldId id="301" r:id="rId9"/>
    <p:sldId id="303" r:id="rId10"/>
    <p:sldId id="286" r:id="rId11"/>
    <p:sldId id="304" r:id="rId12"/>
    <p:sldId id="306" r:id="rId13"/>
    <p:sldId id="307" r:id="rId14"/>
    <p:sldId id="308" r:id="rId15"/>
    <p:sldId id="309" r:id="rId16"/>
    <p:sldId id="310" r:id="rId17"/>
    <p:sldId id="311" r:id="rId18"/>
    <p:sldId id="312" r:id="rId19"/>
    <p:sldId id="314" r:id="rId20"/>
    <p:sldId id="315" r:id="rId21"/>
    <p:sldId id="316" r:id="rId22"/>
    <p:sldId id="317" r:id="rId23"/>
    <p:sldId id="319" r:id="rId24"/>
    <p:sldId id="318" r:id="rId25"/>
    <p:sldId id="321" r:id="rId26"/>
    <p:sldId id="320" r:id="rId27"/>
    <p:sldId id="322" r:id="rId28"/>
    <p:sldId id="323" r:id="rId29"/>
    <p:sldId id="324" r:id="rId30"/>
    <p:sldId id="313" r:id="rId31"/>
    <p:sldId id="326" r:id="rId32"/>
    <p:sldId id="287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mbadi kj" initials="ak" lastIdx="1" clrIdx="0">
    <p:extLst>
      <p:ext uri="{19B8F6BF-5375-455C-9EA6-DF929625EA0E}">
        <p15:presenceInfo xmlns:p15="http://schemas.microsoft.com/office/powerpoint/2012/main" userId="061135ecb0f2f7a6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377FC"/>
    <a:srgbClr val="EAAFFD"/>
    <a:srgbClr val="AFA7FA"/>
    <a:srgbClr val="B5B8FD"/>
    <a:srgbClr val="878EF9"/>
    <a:srgbClr val="93A8FE"/>
    <a:srgbClr val="7E95FF"/>
    <a:srgbClr val="1B0D39"/>
    <a:srgbClr val="2C567A"/>
    <a:srgbClr val="0D1D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E3FDE45-AF77-4B5C-9715-49D594BDF05E}"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87887" autoAdjust="0"/>
  </p:normalViewPr>
  <p:slideViewPr>
    <p:cSldViewPr snapToGrid="0" showGuides="1">
      <p:cViewPr varScale="1">
        <p:scale>
          <a:sx n="113" d="100"/>
          <a:sy n="113" d="100"/>
        </p:scale>
        <p:origin x="510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00" d="100"/>
          <a:sy n="100" d="100"/>
        </p:scale>
        <p:origin x="1560" y="-14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heme" Target="theme/theme1.xml"/><Relationship Id="rId21" Type="http://schemas.openxmlformats.org/officeDocument/2006/relationships/slide" Target="slides/slide17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8-05T19:19:58.319" idx="1">
    <p:pos x="10" y="10"/>
    <p:text/>
    <p:extLst>
      <p:ext uri="{C676402C-5697-4E1C-873F-D02D1690AC5C}">
        <p15:threadingInfo xmlns:p15="http://schemas.microsoft.com/office/powerpoint/2012/main" timeZoneBias="-330"/>
      </p:ext>
    </p:extLst>
  </p:cm>
</p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7243D74-B9C1-450A-B0F3-6C6DCB0CF20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C27C33-9BB1-41D5-A236-12767E7E722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AB3EA8-A58D-4C92-A3AB-D271CCC294C7}" type="datetimeFigureOut">
              <a:rPr lang="en-US" smtClean="0"/>
              <a:t>8/5/2026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A7EADB-04A4-4093-B238-438E2C7317A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DD8696-706D-440E-AE04-4C644F0613E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2A5DE8-F2C4-4DB3-88D1-656DCD59E73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98243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EFB4FA-E877-413E-B608-88789D806C57}" type="datetimeFigureOut">
              <a:rPr lang="en-US" noProof="0" smtClean="0"/>
              <a:t>8/5/2026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36304E-FDE3-4B4F-A3B7-EBE87F3FA5E2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851386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7" Type="http://schemas.openxmlformats.org/officeDocument/2006/relationships/image" Target="../media/image5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7" Type="http://schemas.openxmlformats.org/officeDocument/2006/relationships/image" Target="../media/image7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5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15.svg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5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FD93970-B13A-F96D-A4B1-3A1EE748410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" y="0"/>
            <a:ext cx="12202379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56FD49-C258-4333-9422-358C976A34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502920"/>
            <a:ext cx="10954512" cy="3246120"/>
          </a:xfrm>
        </p:spPr>
        <p:txBody>
          <a:bodyPr anchor="b">
            <a:noAutofit/>
          </a:bodyPr>
          <a:lstStyle>
            <a:lvl1pPr algn="ctr">
              <a:defRPr sz="6600" b="1" i="0" cap="none" baseline="0">
                <a:solidFill>
                  <a:schemeClr val="accent2">
                    <a:lumMod val="25000"/>
                  </a:schemeClr>
                </a:solidFill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758E15-A93D-4FB9-843D-1490E27A1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3758183"/>
            <a:ext cx="10954512" cy="1307592"/>
          </a:xfrm>
        </p:spPr>
        <p:txBody>
          <a:bodyPr>
            <a:noAutofit/>
          </a:bodyPr>
          <a:lstStyle>
            <a:lvl1pPr marL="0" indent="0" algn="ctr">
              <a:buNone/>
              <a:defRPr sz="3200" b="0" cap="all" baseline="0">
                <a:solidFill>
                  <a:schemeClr val="accent2">
                    <a:lumMod val="25000"/>
                  </a:schemeClr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884962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01"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850392"/>
            <a:ext cx="3913632" cy="4800600"/>
          </a:xfrm>
        </p:spPr>
        <p:txBody>
          <a:bodyPr/>
          <a:lstStyle>
            <a:lvl1pPr>
              <a:defRPr>
                <a:solidFill>
                  <a:schemeClr val="accent2">
                    <a:lumMod val="2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8384" y="1965960"/>
            <a:ext cx="4050792" cy="2953512"/>
          </a:xfrm>
        </p:spPr>
        <p:txBody>
          <a:bodyPr anchor="ctr" anchorCtr="0"/>
          <a:lstStyle>
            <a:lvl1pPr>
              <a:defRPr cap="all" baseline="0">
                <a:solidFill>
                  <a:schemeClr val="accent2">
                    <a:lumMod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8/6/20XX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Rounded Rectangle 4">
            <a:extLst>
              <a:ext uri="{FF2B5EF4-FFF2-40B4-BE49-F238E27FC236}">
                <a16:creationId xmlns:a16="http://schemas.microsoft.com/office/drawing/2014/main" id="{906EB944-76A9-6F98-104E-59CD34F5CF94}"/>
              </a:ext>
            </a:extLst>
          </p:cNvPr>
          <p:cNvSpPr/>
          <p:nvPr userDrawn="1"/>
        </p:nvSpPr>
        <p:spPr>
          <a:xfrm>
            <a:off x="256674" y="256674"/>
            <a:ext cx="11678651" cy="6352673"/>
          </a:xfrm>
          <a:prstGeom prst="roundRect">
            <a:avLst>
              <a:gd name="adj" fmla="val 430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" name="Picture 7">
            <a:extLst>
              <a:ext uri="{FF2B5EF4-FFF2-40B4-BE49-F238E27FC236}">
                <a16:creationId xmlns:a16="http://schemas.microsoft.com/office/drawing/2014/main" id="{898C8E3F-6992-0D8A-CCA1-3DD2C147AA8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4756"/>
          <a:stretch/>
        </p:blipFill>
        <p:spPr>
          <a:xfrm>
            <a:off x="8853067" y="1"/>
            <a:ext cx="1875091" cy="1605320"/>
          </a:xfrm>
          <a:prstGeom prst="rect">
            <a:avLst/>
          </a:prstGeom>
        </p:spPr>
      </p:pic>
      <p:pic>
        <p:nvPicPr>
          <p:cNvPr id="13" name="Picture 7">
            <a:extLst>
              <a:ext uri="{FF2B5EF4-FFF2-40B4-BE49-F238E27FC236}">
                <a16:creationId xmlns:a16="http://schemas.microsoft.com/office/drawing/2014/main" id="{4417AC45-4CB7-72E8-3723-B1A3D81FB6E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713775" y="5533690"/>
            <a:ext cx="493392" cy="495528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AE5941EF-B160-313A-DA99-73C86EDC4C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46794"/>
          <a:stretch/>
        </p:blipFill>
        <p:spPr>
          <a:xfrm>
            <a:off x="10316909" y="2723673"/>
            <a:ext cx="1875091" cy="3600981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EEC16221-5852-F1A3-24D1-8EF5E907173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41791"/>
          <a:stretch/>
        </p:blipFill>
        <p:spPr>
          <a:xfrm>
            <a:off x="3497179" y="6324654"/>
            <a:ext cx="910220" cy="541368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5D8B34C3-E35E-0B4E-1F8E-59C449A3C8D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t="31904"/>
          <a:stretch/>
        </p:blipFill>
        <p:spPr>
          <a:xfrm>
            <a:off x="1601212" y="0"/>
            <a:ext cx="1032928" cy="718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8555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51FEFCE-5DDA-D353-F1BF-36752F5F079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2917"/>
            <a:ext cx="12197191" cy="685508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56FD49-C258-4333-9422-358C976A34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7824" y="1325880"/>
            <a:ext cx="10460736" cy="2286000"/>
          </a:xfrm>
        </p:spPr>
        <p:txBody>
          <a:bodyPr anchor="b">
            <a:noAutofit/>
          </a:bodyPr>
          <a:lstStyle>
            <a:lvl1pPr algn="ctr">
              <a:defRPr sz="6600" b="1" i="0" cap="none" spc="-150" baseline="0">
                <a:solidFill>
                  <a:schemeClr val="accent2">
                    <a:lumMod val="25000"/>
                  </a:schemeClr>
                </a:solidFill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758E15-A93D-4FB9-843D-1490E27A1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7824" y="3749040"/>
            <a:ext cx="10460736" cy="2286000"/>
          </a:xfrm>
        </p:spPr>
        <p:txBody>
          <a:bodyPr>
            <a:noAutofit/>
          </a:bodyPr>
          <a:lstStyle>
            <a:lvl1pPr marL="0" indent="0" algn="ctr">
              <a:buNone/>
              <a:defRPr sz="3200" b="0" cap="all" baseline="0">
                <a:solidFill>
                  <a:schemeClr val="accent2">
                    <a:lumMod val="25000"/>
                  </a:schemeClr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027234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02"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19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3">
            <a:extLst>
              <a:ext uri="{FF2B5EF4-FFF2-40B4-BE49-F238E27FC236}">
                <a16:creationId xmlns:a16="http://schemas.microsoft.com/office/drawing/2014/main" id="{B6718ABD-4EA5-E3C5-0225-F6671DCA53AD}"/>
              </a:ext>
            </a:extLst>
          </p:cNvPr>
          <p:cNvSpPr/>
          <p:nvPr userDrawn="1"/>
        </p:nvSpPr>
        <p:spPr>
          <a:xfrm>
            <a:off x="256674" y="256674"/>
            <a:ext cx="11678651" cy="6352673"/>
          </a:xfrm>
          <a:prstGeom prst="roundRect">
            <a:avLst>
              <a:gd name="adj" fmla="val 430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721A955-CA2D-A65D-6E60-DAAAA4ACFA3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050"/>
          <a:stretch/>
        </p:blipFill>
        <p:spPr>
          <a:xfrm>
            <a:off x="0" y="2887579"/>
            <a:ext cx="2432421" cy="3604662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AB70155A-604C-AD00-BE69-4505C75CE01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5874" b="-1"/>
          <a:stretch/>
        </p:blipFill>
        <p:spPr>
          <a:xfrm rot="5400000">
            <a:off x="11281284" y="2493882"/>
            <a:ext cx="1032928" cy="887899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F74D1084-EF5E-D016-13E0-1840BDFFD0A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b="-880"/>
          <a:stretch/>
        </p:blipFill>
        <p:spPr>
          <a:xfrm>
            <a:off x="9897978" y="5987153"/>
            <a:ext cx="490012" cy="50508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277856" cy="1655064"/>
          </a:xfrm>
        </p:spPr>
        <p:txBody>
          <a:bodyPr anchor="b"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304" y="2313432"/>
            <a:ext cx="6327648" cy="3218688"/>
          </a:xfrm>
        </p:spPr>
        <p:txBody>
          <a:bodyPr anchor="ctr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8/6/20XX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9032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E1B9A11-4222-BB4A-66D3-D37C79AC57C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-1" r="21" b="21"/>
          <a:stretch/>
        </p:blipFill>
        <p:spPr>
          <a:xfrm>
            <a:off x="-2595" y="1459"/>
            <a:ext cx="12197191" cy="685508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56FD49-C258-4333-9422-358C976A34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54296" y="27432"/>
            <a:ext cx="7004304" cy="3566160"/>
          </a:xfrm>
        </p:spPr>
        <p:txBody>
          <a:bodyPr anchor="b">
            <a:noAutofit/>
          </a:bodyPr>
          <a:lstStyle>
            <a:lvl1pPr algn="ctr">
              <a:defRPr sz="6000" b="1" i="0" cap="none" spc="-150" baseline="0">
                <a:solidFill>
                  <a:schemeClr val="accent2">
                    <a:lumMod val="25000"/>
                  </a:schemeClr>
                </a:solidFill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758E15-A93D-4FB9-843D-1490E27A1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54295" y="3767328"/>
            <a:ext cx="7004303" cy="1161288"/>
          </a:xfrm>
        </p:spPr>
        <p:txBody>
          <a:bodyPr>
            <a:noAutofit/>
          </a:bodyPr>
          <a:lstStyle>
            <a:lvl1pPr marL="0" indent="0" algn="ctr">
              <a:buNone/>
              <a:defRPr sz="3200" b="0" cap="all" baseline="0">
                <a:solidFill>
                  <a:schemeClr val="accent2">
                    <a:lumMod val="25000"/>
                  </a:schemeClr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296238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1"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21594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772C86F9-080E-93F7-C7B1-F5BEAD84E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506456" cy="1655064"/>
          </a:xfrm>
        </p:spPr>
        <p:txBody>
          <a:bodyPr anchor="b"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97280" y="2432304"/>
            <a:ext cx="3108960" cy="34123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DFB03A-367B-9ADA-8071-E22871EC1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36592" y="1920240"/>
            <a:ext cx="6620256" cy="39136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8/6/20XX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7FF98F94-8801-13BE-8EB4-01921AC196C8}"/>
              </a:ext>
            </a:extLst>
          </p:cNvPr>
          <p:cNvSpPr/>
          <p:nvPr userDrawn="1"/>
        </p:nvSpPr>
        <p:spPr>
          <a:xfrm>
            <a:off x="256674" y="256674"/>
            <a:ext cx="11678651" cy="6352673"/>
          </a:xfrm>
          <a:prstGeom prst="roundRect">
            <a:avLst>
              <a:gd name="adj" fmla="val 430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B7BF5718-9534-FD92-79D7-ECC66603E70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62387"/>
          <a:stretch/>
        </p:blipFill>
        <p:spPr>
          <a:xfrm rot="5400000">
            <a:off x="1778676" y="5204330"/>
            <a:ext cx="907513" cy="2465321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4FF40650-9AD0-96F8-F702-185D1729AF8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3558" y="5429608"/>
            <a:ext cx="406214" cy="415066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83AC8518-2F0B-6FC0-0C0E-6CE9D00EAC7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t="-4860" b="-1"/>
          <a:stretch/>
        </p:blipFill>
        <p:spPr>
          <a:xfrm>
            <a:off x="10214191" y="365126"/>
            <a:ext cx="1032928" cy="1106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3603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03"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19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E7B4AF60-AC65-3E7A-4A5D-EBF1A7030D9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3063" b="3063"/>
          <a:stretch/>
        </p:blipFill>
        <p:spPr>
          <a:xfrm>
            <a:off x="1" y="2917"/>
            <a:ext cx="12197189" cy="6855082"/>
          </a:xfrm>
          <a:prstGeom prst="rect">
            <a:avLst/>
          </a:prstGeom>
        </p:spPr>
      </p:pic>
      <p:sp>
        <p:nvSpPr>
          <p:cNvPr id="12" name="Rounded Rectangle 4">
            <a:extLst>
              <a:ext uri="{FF2B5EF4-FFF2-40B4-BE49-F238E27FC236}">
                <a16:creationId xmlns:a16="http://schemas.microsoft.com/office/drawing/2014/main" id="{95671103-2960-81E2-9A76-0E7FDE6B3E55}"/>
              </a:ext>
            </a:extLst>
          </p:cNvPr>
          <p:cNvSpPr/>
          <p:nvPr userDrawn="1"/>
        </p:nvSpPr>
        <p:spPr>
          <a:xfrm>
            <a:off x="256674" y="256674"/>
            <a:ext cx="11678651" cy="6352673"/>
          </a:xfrm>
          <a:prstGeom prst="roundRect">
            <a:avLst>
              <a:gd name="adj" fmla="val 430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277856" cy="1655064"/>
          </a:xfrm>
        </p:spPr>
        <p:txBody>
          <a:bodyPr anchor="b"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304" y="2276856"/>
            <a:ext cx="6327648" cy="3090672"/>
          </a:xfrm>
        </p:spPr>
        <p:txBody>
          <a:bodyPr anchor="ctr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8/6/20XX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12648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 02"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16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4">
            <a:extLst>
              <a:ext uri="{FF2B5EF4-FFF2-40B4-BE49-F238E27FC236}">
                <a16:creationId xmlns:a16="http://schemas.microsoft.com/office/drawing/2014/main" id="{86060D16-E6F6-EA0E-E58E-526234AB6564}"/>
              </a:ext>
            </a:extLst>
          </p:cNvPr>
          <p:cNvSpPr/>
          <p:nvPr userDrawn="1"/>
        </p:nvSpPr>
        <p:spPr>
          <a:xfrm>
            <a:off x="256674" y="256674"/>
            <a:ext cx="11678651" cy="6352673"/>
          </a:xfrm>
          <a:prstGeom prst="roundRect">
            <a:avLst>
              <a:gd name="adj" fmla="val 430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0E0958AA-6F1A-C4A2-FB66-1A6F7F8834B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-6095" b="-1"/>
          <a:stretch/>
        </p:blipFill>
        <p:spPr>
          <a:xfrm>
            <a:off x="569419" y="4426479"/>
            <a:ext cx="1472805" cy="1596616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3DEADFA2-398E-9388-8295-063D31FB38E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-6095" b="-1"/>
          <a:stretch/>
        </p:blipFill>
        <p:spPr>
          <a:xfrm rot="3765410" flipV="1">
            <a:off x="1448505" y="4094575"/>
            <a:ext cx="862484" cy="934988"/>
          </a:xfrm>
          <a:prstGeom prst="rect">
            <a:avLst/>
          </a:prstGeom>
        </p:spPr>
      </p:pic>
      <p:pic>
        <p:nvPicPr>
          <p:cNvPr id="10" name="Picture 7">
            <a:extLst>
              <a:ext uri="{FF2B5EF4-FFF2-40B4-BE49-F238E27FC236}">
                <a16:creationId xmlns:a16="http://schemas.microsoft.com/office/drawing/2014/main" id="{D09A7588-8EFD-A0C5-4235-45B7D657ECF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35453"/>
          <a:stretch/>
        </p:blipFill>
        <p:spPr>
          <a:xfrm>
            <a:off x="9469547" y="5719093"/>
            <a:ext cx="1756858" cy="113890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EF04D7D6-513C-D18A-AF21-D10F0E5D3B8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-1" r="-750"/>
          <a:stretch/>
        </p:blipFill>
        <p:spPr>
          <a:xfrm>
            <a:off x="8844546" y="50582"/>
            <a:ext cx="1307037" cy="132556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277856" cy="1655064"/>
          </a:xfrm>
        </p:spPr>
        <p:txBody>
          <a:bodyPr anchor="b"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304" y="2441448"/>
            <a:ext cx="3602736" cy="3575304"/>
          </a:xfrm>
        </p:spPr>
        <p:txBody>
          <a:bodyPr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1DCC4A1-0DB3-3480-3A1A-78FC85FE7EC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7671816" y="2441448"/>
            <a:ext cx="3602736" cy="3575304"/>
          </a:xfrm>
        </p:spPr>
        <p:txBody>
          <a:bodyPr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8/6/20XX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97282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6">
            <a:extLst>
              <a:ext uri="{FF2B5EF4-FFF2-40B4-BE49-F238E27FC236}">
                <a16:creationId xmlns:a16="http://schemas.microsoft.com/office/drawing/2014/main" id="{1B32A35F-9C9A-7C7D-DE93-B55FFF07D66E}"/>
              </a:ext>
            </a:extLst>
          </p:cNvPr>
          <p:cNvSpPr/>
          <p:nvPr userDrawn="1"/>
        </p:nvSpPr>
        <p:spPr>
          <a:xfrm>
            <a:off x="256674" y="256674"/>
            <a:ext cx="11678651" cy="6352673"/>
          </a:xfrm>
          <a:prstGeom prst="roundRect">
            <a:avLst>
              <a:gd name="adj" fmla="val 430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98299DF-E702-8750-30F5-798D7C96A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277856" cy="1655064"/>
          </a:xfrm>
        </p:spPr>
        <p:txBody>
          <a:bodyPr anchor="b"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0CE72F6-1D9D-E61E-F1EE-2861FDF765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0432" y="2459736"/>
            <a:ext cx="2843784" cy="3090672"/>
          </a:xfrm>
        </p:spPr>
        <p:txBody>
          <a:bodyPr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EFAE94C-C299-8167-1BD9-4FC98C04C63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233672" y="2523744"/>
            <a:ext cx="6693408" cy="3273552"/>
          </a:xfrm>
        </p:spPr>
        <p:txBody>
          <a:bodyPr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8/6/20XX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49479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04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198299DF-E702-8750-30F5-798D7C96A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277856" cy="1655064"/>
          </a:xfrm>
        </p:spPr>
        <p:txBody>
          <a:bodyPr anchor="b"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EFAE94C-C299-8167-1BD9-4FC98C04C63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207008" y="2523744"/>
            <a:ext cx="9720072" cy="3255264"/>
          </a:xfrm>
        </p:spPr>
        <p:txBody>
          <a:bodyPr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8/6/20XX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Rounded Rectangle 6">
            <a:extLst>
              <a:ext uri="{FF2B5EF4-FFF2-40B4-BE49-F238E27FC236}">
                <a16:creationId xmlns:a16="http://schemas.microsoft.com/office/drawing/2014/main" id="{1B32A35F-9C9A-7C7D-DE93-B55FFF07D66E}"/>
              </a:ext>
            </a:extLst>
          </p:cNvPr>
          <p:cNvSpPr/>
          <p:nvPr userDrawn="1"/>
        </p:nvSpPr>
        <p:spPr>
          <a:xfrm>
            <a:off x="256674" y="256674"/>
            <a:ext cx="11678651" cy="6352673"/>
          </a:xfrm>
          <a:prstGeom prst="roundRect">
            <a:avLst>
              <a:gd name="adj" fmla="val 430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84807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7A51A8B-A15C-2A94-1E48-F9615101DF4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8991" t="11245" r="3785" b="1531"/>
          <a:stretch/>
        </p:blipFill>
        <p:spPr>
          <a:xfrm>
            <a:off x="0" y="2917"/>
            <a:ext cx="12197192" cy="685508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56FD49-C258-4333-9422-358C976A34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1600200"/>
            <a:ext cx="10991088" cy="3657600"/>
          </a:xfrm>
        </p:spPr>
        <p:txBody>
          <a:bodyPr anchor="ctr">
            <a:noAutofit/>
          </a:bodyPr>
          <a:lstStyle>
            <a:lvl1pPr algn="ctr">
              <a:defRPr sz="6600" b="1" i="0" cap="none" spc="-150" baseline="0">
                <a:solidFill>
                  <a:schemeClr val="accent2">
                    <a:lumMod val="25000"/>
                  </a:schemeClr>
                </a:solidFill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994920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 04"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13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4">
            <a:extLst>
              <a:ext uri="{FF2B5EF4-FFF2-40B4-BE49-F238E27FC236}">
                <a16:creationId xmlns:a16="http://schemas.microsoft.com/office/drawing/2014/main" id="{5697808D-10E0-D8A5-5D07-E176EBB8F2BB}"/>
              </a:ext>
            </a:extLst>
          </p:cNvPr>
          <p:cNvSpPr/>
          <p:nvPr userDrawn="1"/>
        </p:nvSpPr>
        <p:spPr>
          <a:xfrm>
            <a:off x="256674" y="256674"/>
            <a:ext cx="11678651" cy="6352673"/>
          </a:xfrm>
          <a:prstGeom prst="roundRect">
            <a:avLst>
              <a:gd name="adj" fmla="val 430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Picture 7">
            <a:extLst>
              <a:ext uri="{FF2B5EF4-FFF2-40B4-BE49-F238E27FC236}">
                <a16:creationId xmlns:a16="http://schemas.microsoft.com/office/drawing/2014/main" id="{0234D012-F86E-04CE-78C8-2C5A6613028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-1004" r="-148"/>
          <a:stretch/>
        </p:blipFill>
        <p:spPr>
          <a:xfrm rot="5400000">
            <a:off x="6378170" y="40082"/>
            <a:ext cx="1579705" cy="1600089"/>
          </a:xfrm>
          <a:prstGeom prst="rect">
            <a:avLst/>
          </a:prstGeom>
        </p:spPr>
      </p:pic>
      <p:pic>
        <p:nvPicPr>
          <p:cNvPr id="15" name="Picture 7">
            <a:extLst>
              <a:ext uri="{FF2B5EF4-FFF2-40B4-BE49-F238E27FC236}">
                <a16:creationId xmlns:a16="http://schemas.microsoft.com/office/drawing/2014/main" id="{0BC42061-F838-920E-632E-10EDE7E553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-6239" r="25335" b="-1"/>
          <a:stretch/>
        </p:blipFill>
        <p:spPr>
          <a:xfrm rot="16200000">
            <a:off x="6298833" y="-161472"/>
            <a:ext cx="752715" cy="107565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58BEE67F-530E-E41D-FD19-2615180DC3F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15931"/>
          <a:stretch/>
        </p:blipFill>
        <p:spPr>
          <a:xfrm>
            <a:off x="10439102" y="4145165"/>
            <a:ext cx="1780703" cy="2164311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82CFCA46-5F5A-867F-B19C-4F9ED5BA15A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r="46794"/>
          <a:stretch/>
        </p:blipFill>
        <p:spPr>
          <a:xfrm rot="10800000">
            <a:off x="-27806" y="2452933"/>
            <a:ext cx="1370742" cy="2632414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11E8F80C-ACB2-552E-4433-1A8A2708F18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t="1" b="-9728"/>
          <a:stretch/>
        </p:blipFill>
        <p:spPr>
          <a:xfrm rot="18286209">
            <a:off x="887827" y="4958926"/>
            <a:ext cx="910220" cy="10205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277856" cy="1655064"/>
          </a:xfrm>
        </p:spPr>
        <p:txBody>
          <a:bodyPr anchor="b"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304" y="2441448"/>
            <a:ext cx="3602736" cy="3575304"/>
          </a:xfrm>
        </p:spPr>
        <p:txBody>
          <a:bodyPr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1DCC4A1-0DB3-3480-3A1A-78FC85FE7EC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8293608" y="2441447"/>
            <a:ext cx="3063240" cy="3575303"/>
          </a:xfrm>
        </p:spPr>
        <p:txBody>
          <a:bodyPr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8/6/20XX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38508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4ACFCA6-7ECE-9BFB-9389-6DB74C86285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21" r="21"/>
          <a:stretch/>
        </p:blipFill>
        <p:spPr>
          <a:xfrm>
            <a:off x="-5192" y="-1"/>
            <a:ext cx="12197192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56FD49-C258-4333-9422-358C976A34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3856" y="56450"/>
            <a:ext cx="9912096" cy="2743200"/>
          </a:xfrm>
        </p:spPr>
        <p:txBody>
          <a:bodyPr anchor="b">
            <a:noAutofit/>
          </a:bodyPr>
          <a:lstStyle>
            <a:lvl1pPr algn="l">
              <a:defRPr sz="6600" b="1" i="0" cap="none" spc="-150" baseline="0">
                <a:solidFill>
                  <a:schemeClr val="accent2">
                    <a:lumMod val="25000"/>
                  </a:schemeClr>
                </a:solidFill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758E15-A93D-4FB9-843D-1490E27A1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75304" y="3110546"/>
            <a:ext cx="4114800" cy="2743200"/>
          </a:xfrm>
        </p:spPr>
        <p:txBody>
          <a:bodyPr>
            <a:no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2400" b="0" cap="all" baseline="0">
                <a:solidFill>
                  <a:schemeClr val="accent2">
                    <a:lumMod val="25000"/>
                  </a:schemeClr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9608354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C4D7FA-B85E-4477-8C62-94955B340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1226BB-3E56-4E7F-8172-7EC03C9F0B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5D08EF-72FB-4F19-9916-65815A9CA9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63001"/>
            <a:ext cx="2743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noProof="0" dirty="0"/>
              <a:t>8/6/20XX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65084D-BC85-4A55-BD80-93876AD101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63001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FDEF23-A140-4DD6-A0D0-A86BD4DF34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75912" y="6563001"/>
            <a:ext cx="2743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C71654-96A5-4280-94F3-931C61A9F92C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47082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693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accent2">
              <a:lumMod val="25000"/>
            </a:schemeClr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000" b="0" i="0" kern="1200">
          <a:solidFill>
            <a:schemeClr val="accent2">
              <a:lumMod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25" userDrawn="1">
          <p15:clr>
            <a:srgbClr val="F26B43"/>
          </p15:clr>
        </p15:guide>
        <p15:guide id="4" pos="734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ABE40-AA00-F366-A36A-B3F1AADBF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54296" y="27432"/>
            <a:ext cx="7004304" cy="3566160"/>
          </a:xfrm>
          <a:noFill/>
        </p:spPr>
        <p:txBody>
          <a:bodyPr>
            <a:noAutofit/>
          </a:bodyPr>
          <a:lstStyle/>
          <a:p>
            <a:pPr algn="r"/>
            <a:r>
              <a:rPr lang="en-US" dirty="0">
                <a:solidFill>
                  <a:srgbClr val="1B0D39"/>
                </a:solidFill>
                <a:latin typeface="+mj-lt"/>
              </a:rPr>
              <a:t>Real-Time Restaurant Management &amp; POS System</a:t>
            </a:r>
            <a:endParaRPr lang="en-US" dirty="0"/>
          </a:p>
        </p:txBody>
      </p:sp>
      <p:sp>
        <p:nvSpPr>
          <p:cNvPr id="4" name="Google Shape;81;p13">
            <a:extLst>
              <a:ext uri="{FF2B5EF4-FFF2-40B4-BE49-F238E27FC236}">
                <a16:creationId xmlns:a16="http://schemas.microsoft.com/office/drawing/2014/main" id="{651A164F-56F3-446B-A4D0-054ED9CD08A7}"/>
              </a:ext>
            </a:extLst>
          </p:cNvPr>
          <p:cNvSpPr txBox="1"/>
          <p:nvPr/>
        </p:nvSpPr>
        <p:spPr>
          <a:xfrm>
            <a:off x="474134" y="5534908"/>
            <a:ext cx="3098799" cy="922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76204" indent="0">
              <a:buNone/>
            </a:pPr>
            <a:r>
              <a:rPr lang="en-US" sz="2000" b="1" dirty="0">
                <a:latin typeface="+mj-lt"/>
              </a:rPr>
              <a:t>Guide :</a:t>
            </a:r>
          </a:p>
          <a:p>
            <a:pPr marL="76204" indent="0">
              <a:buNone/>
            </a:pPr>
            <a:r>
              <a:rPr lang="en-IN" sz="2000" dirty="0">
                <a:latin typeface="+mj-lt"/>
              </a:rPr>
              <a:t>Ms. </a:t>
            </a:r>
            <a:r>
              <a:rPr lang="en-IN" sz="2000" dirty="0" err="1">
                <a:latin typeface="+mj-lt"/>
              </a:rPr>
              <a:t>Sherna</a:t>
            </a:r>
            <a:r>
              <a:rPr lang="en-IN" sz="2000" dirty="0">
                <a:latin typeface="+mj-lt"/>
              </a:rPr>
              <a:t> Mohan</a:t>
            </a:r>
            <a:endParaRPr lang="en-US" sz="2000" dirty="0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674F89-BFAC-4E12-93C3-BE092C91CB53}"/>
              </a:ext>
            </a:extLst>
          </p:cNvPr>
          <p:cNvSpPr txBox="1"/>
          <p:nvPr/>
        </p:nvSpPr>
        <p:spPr>
          <a:xfrm>
            <a:off x="7909983" y="5642398"/>
            <a:ext cx="38078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6204" indent="0">
              <a:buNone/>
            </a:pPr>
            <a:r>
              <a:rPr lang="en-US" sz="2000" dirty="0" err="1">
                <a:latin typeface="+mj-lt"/>
              </a:rPr>
              <a:t>Aaliya</a:t>
            </a:r>
            <a:r>
              <a:rPr lang="en-US" sz="2000" dirty="0">
                <a:latin typeface="+mj-lt"/>
              </a:rPr>
              <a:t> Khalid (01)   </a:t>
            </a:r>
            <a:r>
              <a:rPr lang="en-IN" sz="2000" dirty="0">
                <a:latin typeface="+mj-lt"/>
              </a:rPr>
              <a:t>MCA 3A</a:t>
            </a:r>
          </a:p>
          <a:p>
            <a:pPr marL="76204" indent="0">
              <a:buNone/>
            </a:pPr>
            <a:r>
              <a:rPr lang="en-US" sz="2000" dirty="0">
                <a:latin typeface="+mj-lt"/>
              </a:rPr>
              <a:t>Ambadi K J (09)</a:t>
            </a:r>
            <a:r>
              <a:rPr lang="en-IN" sz="2000" dirty="0">
                <a:latin typeface="+mj-lt"/>
              </a:rPr>
              <a:t>      MCA 3A</a:t>
            </a:r>
            <a:endParaRPr lang="en-US" sz="2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7392407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Flowchart: Alternate Process 125">
            <a:extLst>
              <a:ext uri="{FF2B5EF4-FFF2-40B4-BE49-F238E27FC236}">
                <a16:creationId xmlns:a16="http://schemas.microsoft.com/office/drawing/2014/main" id="{3827B7D1-5623-4CE9-92A8-C6684ECCE855}"/>
              </a:ext>
            </a:extLst>
          </p:cNvPr>
          <p:cNvSpPr/>
          <p:nvPr/>
        </p:nvSpPr>
        <p:spPr>
          <a:xfrm>
            <a:off x="6335364" y="2122836"/>
            <a:ext cx="2179969" cy="645040"/>
          </a:xfrm>
          <a:custGeom>
            <a:avLst/>
            <a:gdLst>
              <a:gd name="connsiteX0" fmla="*/ 0 w 2179969"/>
              <a:gd name="connsiteY0" fmla="*/ 107507 h 645040"/>
              <a:gd name="connsiteX1" fmla="*/ 107507 w 2179969"/>
              <a:gd name="connsiteY1" fmla="*/ 0 h 645040"/>
              <a:gd name="connsiteX2" fmla="*/ 723193 w 2179969"/>
              <a:gd name="connsiteY2" fmla="*/ 0 h 645040"/>
              <a:gd name="connsiteX3" fmla="*/ 1417477 w 2179969"/>
              <a:gd name="connsiteY3" fmla="*/ 0 h 645040"/>
              <a:gd name="connsiteX4" fmla="*/ 2072462 w 2179969"/>
              <a:gd name="connsiteY4" fmla="*/ 0 h 645040"/>
              <a:gd name="connsiteX5" fmla="*/ 2179969 w 2179969"/>
              <a:gd name="connsiteY5" fmla="*/ 107507 h 645040"/>
              <a:gd name="connsiteX6" fmla="*/ 2179969 w 2179969"/>
              <a:gd name="connsiteY6" fmla="*/ 537533 h 645040"/>
              <a:gd name="connsiteX7" fmla="*/ 2072462 w 2179969"/>
              <a:gd name="connsiteY7" fmla="*/ 645040 h 645040"/>
              <a:gd name="connsiteX8" fmla="*/ 1437127 w 2179969"/>
              <a:gd name="connsiteY8" fmla="*/ 645040 h 645040"/>
              <a:gd name="connsiteX9" fmla="*/ 841090 w 2179969"/>
              <a:gd name="connsiteY9" fmla="*/ 645040 h 645040"/>
              <a:gd name="connsiteX10" fmla="*/ 107507 w 2179969"/>
              <a:gd name="connsiteY10" fmla="*/ 645040 h 645040"/>
              <a:gd name="connsiteX11" fmla="*/ 0 w 2179969"/>
              <a:gd name="connsiteY11" fmla="*/ 537533 h 645040"/>
              <a:gd name="connsiteX12" fmla="*/ 0 w 2179969"/>
              <a:gd name="connsiteY12" fmla="*/ 107507 h 645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179969" h="645040" extrusionOk="0">
                <a:moveTo>
                  <a:pt x="0" y="107507"/>
                </a:moveTo>
                <a:cubicBezTo>
                  <a:pt x="5973" y="48329"/>
                  <a:pt x="42063" y="-2488"/>
                  <a:pt x="107507" y="0"/>
                </a:cubicBezTo>
                <a:cubicBezTo>
                  <a:pt x="262587" y="-29686"/>
                  <a:pt x="505733" y="21266"/>
                  <a:pt x="723193" y="0"/>
                </a:cubicBezTo>
                <a:cubicBezTo>
                  <a:pt x="940653" y="-21266"/>
                  <a:pt x="1205335" y="-1970"/>
                  <a:pt x="1417477" y="0"/>
                </a:cubicBezTo>
                <a:cubicBezTo>
                  <a:pt x="1629619" y="1970"/>
                  <a:pt x="1773921" y="31458"/>
                  <a:pt x="2072462" y="0"/>
                </a:cubicBezTo>
                <a:cubicBezTo>
                  <a:pt x="2128459" y="-3271"/>
                  <a:pt x="2184516" y="47678"/>
                  <a:pt x="2179969" y="107507"/>
                </a:cubicBezTo>
                <a:cubicBezTo>
                  <a:pt x="2174774" y="237704"/>
                  <a:pt x="2194091" y="361526"/>
                  <a:pt x="2179969" y="537533"/>
                </a:cubicBezTo>
                <a:cubicBezTo>
                  <a:pt x="2172572" y="602486"/>
                  <a:pt x="2128865" y="649370"/>
                  <a:pt x="2072462" y="645040"/>
                </a:cubicBezTo>
                <a:cubicBezTo>
                  <a:pt x="1910173" y="630544"/>
                  <a:pt x="1677581" y="616770"/>
                  <a:pt x="1437127" y="645040"/>
                </a:cubicBezTo>
                <a:cubicBezTo>
                  <a:pt x="1196674" y="673310"/>
                  <a:pt x="1068042" y="641733"/>
                  <a:pt x="841090" y="645040"/>
                </a:cubicBezTo>
                <a:cubicBezTo>
                  <a:pt x="614138" y="648347"/>
                  <a:pt x="332325" y="631727"/>
                  <a:pt x="107507" y="645040"/>
                </a:cubicBezTo>
                <a:cubicBezTo>
                  <a:pt x="46645" y="639700"/>
                  <a:pt x="1746" y="596258"/>
                  <a:pt x="0" y="537533"/>
                </a:cubicBezTo>
                <a:cubicBezTo>
                  <a:pt x="12748" y="370797"/>
                  <a:pt x="-7867" y="251965"/>
                  <a:pt x="0" y="107507"/>
                </a:cubicBezTo>
                <a:close/>
              </a:path>
            </a:pathLst>
          </a:custGeom>
          <a:noFill/>
          <a:ln>
            <a:solidFill>
              <a:schemeClr val="accent3">
                <a:lumMod val="25000"/>
              </a:schemeClr>
            </a:solidFill>
            <a:prstDash val="lgDash"/>
            <a:extLst>
              <a:ext uri="{C807C97D-BFC1-408E-A445-0C87EB9F89A2}">
                <ask:lineSketchStyleProps xmlns:ask="http://schemas.microsoft.com/office/drawing/2018/sketchyshapes" sd="105823659">
                  <a:prstGeom prst="flowChartAlternateProcess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7" name="Flowchart: Alternate Process 126">
            <a:extLst>
              <a:ext uri="{FF2B5EF4-FFF2-40B4-BE49-F238E27FC236}">
                <a16:creationId xmlns:a16="http://schemas.microsoft.com/office/drawing/2014/main" id="{239B1852-5A4A-44B2-8000-48B0E5113A3A}"/>
              </a:ext>
            </a:extLst>
          </p:cNvPr>
          <p:cNvSpPr/>
          <p:nvPr/>
        </p:nvSpPr>
        <p:spPr>
          <a:xfrm>
            <a:off x="773506" y="2122836"/>
            <a:ext cx="2179969" cy="645040"/>
          </a:xfrm>
          <a:custGeom>
            <a:avLst/>
            <a:gdLst>
              <a:gd name="connsiteX0" fmla="*/ 0 w 2179969"/>
              <a:gd name="connsiteY0" fmla="*/ 107507 h 645040"/>
              <a:gd name="connsiteX1" fmla="*/ 107507 w 2179969"/>
              <a:gd name="connsiteY1" fmla="*/ 0 h 645040"/>
              <a:gd name="connsiteX2" fmla="*/ 801791 w 2179969"/>
              <a:gd name="connsiteY2" fmla="*/ 0 h 645040"/>
              <a:gd name="connsiteX3" fmla="*/ 1437127 w 2179969"/>
              <a:gd name="connsiteY3" fmla="*/ 0 h 645040"/>
              <a:gd name="connsiteX4" fmla="*/ 2072462 w 2179969"/>
              <a:gd name="connsiteY4" fmla="*/ 0 h 645040"/>
              <a:gd name="connsiteX5" fmla="*/ 2179969 w 2179969"/>
              <a:gd name="connsiteY5" fmla="*/ 107507 h 645040"/>
              <a:gd name="connsiteX6" fmla="*/ 2179969 w 2179969"/>
              <a:gd name="connsiteY6" fmla="*/ 537533 h 645040"/>
              <a:gd name="connsiteX7" fmla="*/ 2072462 w 2179969"/>
              <a:gd name="connsiteY7" fmla="*/ 645040 h 645040"/>
              <a:gd name="connsiteX8" fmla="*/ 1456776 w 2179969"/>
              <a:gd name="connsiteY8" fmla="*/ 645040 h 645040"/>
              <a:gd name="connsiteX9" fmla="*/ 801791 w 2179969"/>
              <a:gd name="connsiteY9" fmla="*/ 645040 h 645040"/>
              <a:gd name="connsiteX10" fmla="*/ 107507 w 2179969"/>
              <a:gd name="connsiteY10" fmla="*/ 645040 h 645040"/>
              <a:gd name="connsiteX11" fmla="*/ 0 w 2179969"/>
              <a:gd name="connsiteY11" fmla="*/ 537533 h 645040"/>
              <a:gd name="connsiteX12" fmla="*/ 0 w 2179969"/>
              <a:gd name="connsiteY12" fmla="*/ 107507 h 645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179969" h="645040" extrusionOk="0">
                <a:moveTo>
                  <a:pt x="0" y="107507"/>
                </a:moveTo>
                <a:cubicBezTo>
                  <a:pt x="-9741" y="42125"/>
                  <a:pt x="34535" y="5104"/>
                  <a:pt x="107507" y="0"/>
                </a:cubicBezTo>
                <a:cubicBezTo>
                  <a:pt x="385224" y="-28696"/>
                  <a:pt x="510636" y="3832"/>
                  <a:pt x="801791" y="0"/>
                </a:cubicBezTo>
                <a:cubicBezTo>
                  <a:pt x="1092946" y="-3832"/>
                  <a:pt x="1271220" y="-5197"/>
                  <a:pt x="1437127" y="0"/>
                </a:cubicBezTo>
                <a:cubicBezTo>
                  <a:pt x="1603034" y="5197"/>
                  <a:pt x="1770924" y="17533"/>
                  <a:pt x="2072462" y="0"/>
                </a:cubicBezTo>
                <a:cubicBezTo>
                  <a:pt x="2131377" y="-1479"/>
                  <a:pt x="2180537" y="46030"/>
                  <a:pt x="2179969" y="107507"/>
                </a:cubicBezTo>
                <a:cubicBezTo>
                  <a:pt x="2163195" y="242265"/>
                  <a:pt x="2184383" y="384211"/>
                  <a:pt x="2179969" y="537533"/>
                </a:cubicBezTo>
                <a:cubicBezTo>
                  <a:pt x="2178824" y="585991"/>
                  <a:pt x="2125245" y="654200"/>
                  <a:pt x="2072462" y="645040"/>
                </a:cubicBezTo>
                <a:cubicBezTo>
                  <a:pt x="1912967" y="649936"/>
                  <a:pt x="1601089" y="621444"/>
                  <a:pt x="1456776" y="645040"/>
                </a:cubicBezTo>
                <a:cubicBezTo>
                  <a:pt x="1312463" y="668636"/>
                  <a:pt x="956518" y="651184"/>
                  <a:pt x="801791" y="645040"/>
                </a:cubicBezTo>
                <a:cubicBezTo>
                  <a:pt x="647065" y="638896"/>
                  <a:pt x="396152" y="653555"/>
                  <a:pt x="107507" y="645040"/>
                </a:cubicBezTo>
                <a:cubicBezTo>
                  <a:pt x="56945" y="636332"/>
                  <a:pt x="11604" y="589425"/>
                  <a:pt x="0" y="537533"/>
                </a:cubicBezTo>
                <a:cubicBezTo>
                  <a:pt x="12834" y="362871"/>
                  <a:pt x="1566" y="296195"/>
                  <a:pt x="0" y="107507"/>
                </a:cubicBezTo>
                <a:close/>
              </a:path>
            </a:pathLst>
          </a:custGeom>
          <a:noFill/>
          <a:ln>
            <a:solidFill>
              <a:schemeClr val="accent3">
                <a:lumMod val="25000"/>
              </a:schemeClr>
            </a:solidFill>
            <a:prstDash val="lgDash"/>
            <a:extLst>
              <a:ext uri="{C807C97D-BFC1-408E-A445-0C87EB9F89A2}">
                <ask:lineSketchStyleProps xmlns:ask="http://schemas.microsoft.com/office/drawing/2018/sketchyshapes" sd="1219033472">
                  <a:prstGeom prst="flowChartAlternateProcess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8" name="Flowchart: Alternate Process 127">
            <a:extLst>
              <a:ext uri="{FF2B5EF4-FFF2-40B4-BE49-F238E27FC236}">
                <a16:creationId xmlns:a16="http://schemas.microsoft.com/office/drawing/2014/main" id="{C112B5EF-C688-4BB3-AEC0-E6F4F80642D1}"/>
              </a:ext>
            </a:extLst>
          </p:cNvPr>
          <p:cNvSpPr/>
          <p:nvPr/>
        </p:nvSpPr>
        <p:spPr>
          <a:xfrm>
            <a:off x="3506365" y="2102455"/>
            <a:ext cx="2179969" cy="645040"/>
          </a:xfrm>
          <a:custGeom>
            <a:avLst/>
            <a:gdLst>
              <a:gd name="connsiteX0" fmla="*/ 0 w 2179969"/>
              <a:gd name="connsiteY0" fmla="*/ 107507 h 645040"/>
              <a:gd name="connsiteX1" fmla="*/ 107507 w 2179969"/>
              <a:gd name="connsiteY1" fmla="*/ 0 h 645040"/>
              <a:gd name="connsiteX2" fmla="*/ 723193 w 2179969"/>
              <a:gd name="connsiteY2" fmla="*/ 0 h 645040"/>
              <a:gd name="connsiteX3" fmla="*/ 1358528 w 2179969"/>
              <a:gd name="connsiteY3" fmla="*/ 0 h 645040"/>
              <a:gd name="connsiteX4" fmla="*/ 2072462 w 2179969"/>
              <a:gd name="connsiteY4" fmla="*/ 0 h 645040"/>
              <a:gd name="connsiteX5" fmla="*/ 2179969 w 2179969"/>
              <a:gd name="connsiteY5" fmla="*/ 107507 h 645040"/>
              <a:gd name="connsiteX6" fmla="*/ 2179969 w 2179969"/>
              <a:gd name="connsiteY6" fmla="*/ 537533 h 645040"/>
              <a:gd name="connsiteX7" fmla="*/ 2072462 w 2179969"/>
              <a:gd name="connsiteY7" fmla="*/ 645040 h 645040"/>
              <a:gd name="connsiteX8" fmla="*/ 1397827 w 2179969"/>
              <a:gd name="connsiteY8" fmla="*/ 645040 h 645040"/>
              <a:gd name="connsiteX9" fmla="*/ 762492 w 2179969"/>
              <a:gd name="connsiteY9" fmla="*/ 645040 h 645040"/>
              <a:gd name="connsiteX10" fmla="*/ 107507 w 2179969"/>
              <a:gd name="connsiteY10" fmla="*/ 645040 h 645040"/>
              <a:gd name="connsiteX11" fmla="*/ 0 w 2179969"/>
              <a:gd name="connsiteY11" fmla="*/ 537533 h 645040"/>
              <a:gd name="connsiteX12" fmla="*/ 0 w 2179969"/>
              <a:gd name="connsiteY12" fmla="*/ 107507 h 645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179969" h="645040" extrusionOk="0">
                <a:moveTo>
                  <a:pt x="0" y="107507"/>
                </a:moveTo>
                <a:cubicBezTo>
                  <a:pt x="2175" y="48391"/>
                  <a:pt x="45026" y="-4181"/>
                  <a:pt x="107507" y="0"/>
                </a:cubicBezTo>
                <a:cubicBezTo>
                  <a:pt x="254057" y="-15787"/>
                  <a:pt x="443302" y="-25379"/>
                  <a:pt x="723193" y="0"/>
                </a:cubicBezTo>
                <a:cubicBezTo>
                  <a:pt x="1003084" y="25379"/>
                  <a:pt x="1090758" y="-18165"/>
                  <a:pt x="1358528" y="0"/>
                </a:cubicBezTo>
                <a:cubicBezTo>
                  <a:pt x="1626298" y="18165"/>
                  <a:pt x="1830452" y="-758"/>
                  <a:pt x="2072462" y="0"/>
                </a:cubicBezTo>
                <a:cubicBezTo>
                  <a:pt x="2135898" y="12358"/>
                  <a:pt x="2180404" y="61016"/>
                  <a:pt x="2179969" y="107507"/>
                </a:cubicBezTo>
                <a:cubicBezTo>
                  <a:pt x="2163662" y="242830"/>
                  <a:pt x="2173421" y="439786"/>
                  <a:pt x="2179969" y="537533"/>
                </a:cubicBezTo>
                <a:cubicBezTo>
                  <a:pt x="2185657" y="602241"/>
                  <a:pt x="2127232" y="640348"/>
                  <a:pt x="2072462" y="645040"/>
                </a:cubicBezTo>
                <a:cubicBezTo>
                  <a:pt x="1835682" y="615765"/>
                  <a:pt x="1599255" y="667675"/>
                  <a:pt x="1397827" y="645040"/>
                </a:cubicBezTo>
                <a:cubicBezTo>
                  <a:pt x="1196400" y="622405"/>
                  <a:pt x="1017667" y="663457"/>
                  <a:pt x="762492" y="645040"/>
                </a:cubicBezTo>
                <a:cubicBezTo>
                  <a:pt x="507318" y="626623"/>
                  <a:pt x="310966" y="619210"/>
                  <a:pt x="107507" y="645040"/>
                </a:cubicBezTo>
                <a:cubicBezTo>
                  <a:pt x="49139" y="649950"/>
                  <a:pt x="6376" y="604405"/>
                  <a:pt x="0" y="537533"/>
                </a:cubicBezTo>
                <a:cubicBezTo>
                  <a:pt x="18855" y="326263"/>
                  <a:pt x="9030" y="246972"/>
                  <a:pt x="0" y="107507"/>
                </a:cubicBezTo>
                <a:close/>
              </a:path>
            </a:pathLst>
          </a:custGeom>
          <a:noFill/>
          <a:ln>
            <a:solidFill>
              <a:schemeClr val="accent3">
                <a:lumMod val="25000"/>
              </a:schemeClr>
            </a:solidFill>
            <a:prstDash val="lgDash"/>
            <a:extLst>
              <a:ext uri="{C807C97D-BFC1-408E-A445-0C87EB9F89A2}">
                <ask:lineSketchStyleProps xmlns:ask="http://schemas.microsoft.com/office/drawing/2018/sketchyshapes" sd="2214188587">
                  <a:prstGeom prst="flowChartAlternateProcess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5" name="Flowchart: Alternate Process 124">
            <a:extLst>
              <a:ext uri="{FF2B5EF4-FFF2-40B4-BE49-F238E27FC236}">
                <a16:creationId xmlns:a16="http://schemas.microsoft.com/office/drawing/2014/main" id="{D7C6C860-0932-42B6-964E-6EBBB608E086}"/>
              </a:ext>
            </a:extLst>
          </p:cNvPr>
          <p:cNvSpPr/>
          <p:nvPr/>
        </p:nvSpPr>
        <p:spPr>
          <a:xfrm>
            <a:off x="9110252" y="2122836"/>
            <a:ext cx="2179969" cy="645040"/>
          </a:xfrm>
          <a:custGeom>
            <a:avLst/>
            <a:gdLst>
              <a:gd name="connsiteX0" fmla="*/ 0 w 2179969"/>
              <a:gd name="connsiteY0" fmla="*/ 107507 h 645040"/>
              <a:gd name="connsiteX1" fmla="*/ 107507 w 2179969"/>
              <a:gd name="connsiteY1" fmla="*/ 0 h 645040"/>
              <a:gd name="connsiteX2" fmla="*/ 742842 w 2179969"/>
              <a:gd name="connsiteY2" fmla="*/ 0 h 645040"/>
              <a:gd name="connsiteX3" fmla="*/ 1437127 w 2179969"/>
              <a:gd name="connsiteY3" fmla="*/ 0 h 645040"/>
              <a:gd name="connsiteX4" fmla="*/ 2072462 w 2179969"/>
              <a:gd name="connsiteY4" fmla="*/ 0 h 645040"/>
              <a:gd name="connsiteX5" fmla="*/ 2179969 w 2179969"/>
              <a:gd name="connsiteY5" fmla="*/ 107507 h 645040"/>
              <a:gd name="connsiteX6" fmla="*/ 2179969 w 2179969"/>
              <a:gd name="connsiteY6" fmla="*/ 537533 h 645040"/>
              <a:gd name="connsiteX7" fmla="*/ 2072462 w 2179969"/>
              <a:gd name="connsiteY7" fmla="*/ 645040 h 645040"/>
              <a:gd name="connsiteX8" fmla="*/ 1417477 w 2179969"/>
              <a:gd name="connsiteY8" fmla="*/ 645040 h 645040"/>
              <a:gd name="connsiteX9" fmla="*/ 762492 w 2179969"/>
              <a:gd name="connsiteY9" fmla="*/ 645040 h 645040"/>
              <a:gd name="connsiteX10" fmla="*/ 107507 w 2179969"/>
              <a:gd name="connsiteY10" fmla="*/ 645040 h 645040"/>
              <a:gd name="connsiteX11" fmla="*/ 0 w 2179969"/>
              <a:gd name="connsiteY11" fmla="*/ 537533 h 645040"/>
              <a:gd name="connsiteX12" fmla="*/ 0 w 2179969"/>
              <a:gd name="connsiteY12" fmla="*/ 107507 h 645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179969" h="645040" extrusionOk="0">
                <a:moveTo>
                  <a:pt x="0" y="107507"/>
                </a:moveTo>
                <a:cubicBezTo>
                  <a:pt x="6580" y="43723"/>
                  <a:pt x="44896" y="7808"/>
                  <a:pt x="107507" y="0"/>
                </a:cubicBezTo>
                <a:cubicBezTo>
                  <a:pt x="309676" y="20728"/>
                  <a:pt x="587290" y="27107"/>
                  <a:pt x="742842" y="0"/>
                </a:cubicBezTo>
                <a:cubicBezTo>
                  <a:pt x="898395" y="-27107"/>
                  <a:pt x="1218609" y="-14875"/>
                  <a:pt x="1437127" y="0"/>
                </a:cubicBezTo>
                <a:cubicBezTo>
                  <a:pt x="1655645" y="14875"/>
                  <a:pt x="1761305" y="-21733"/>
                  <a:pt x="2072462" y="0"/>
                </a:cubicBezTo>
                <a:cubicBezTo>
                  <a:pt x="2131015" y="-4328"/>
                  <a:pt x="2182905" y="55483"/>
                  <a:pt x="2179969" y="107507"/>
                </a:cubicBezTo>
                <a:cubicBezTo>
                  <a:pt x="2185710" y="206215"/>
                  <a:pt x="2158604" y="387498"/>
                  <a:pt x="2179969" y="537533"/>
                </a:cubicBezTo>
                <a:cubicBezTo>
                  <a:pt x="2184023" y="596083"/>
                  <a:pt x="2140935" y="639467"/>
                  <a:pt x="2072462" y="645040"/>
                </a:cubicBezTo>
                <a:cubicBezTo>
                  <a:pt x="1756031" y="643715"/>
                  <a:pt x="1549123" y="626625"/>
                  <a:pt x="1417477" y="645040"/>
                </a:cubicBezTo>
                <a:cubicBezTo>
                  <a:pt x="1285832" y="663455"/>
                  <a:pt x="940781" y="619936"/>
                  <a:pt x="762492" y="645040"/>
                </a:cubicBezTo>
                <a:cubicBezTo>
                  <a:pt x="584203" y="670144"/>
                  <a:pt x="295595" y="653447"/>
                  <a:pt x="107507" y="645040"/>
                </a:cubicBezTo>
                <a:cubicBezTo>
                  <a:pt x="48359" y="641489"/>
                  <a:pt x="3740" y="593686"/>
                  <a:pt x="0" y="537533"/>
                </a:cubicBezTo>
                <a:cubicBezTo>
                  <a:pt x="-6379" y="343902"/>
                  <a:pt x="15048" y="261134"/>
                  <a:pt x="0" y="107507"/>
                </a:cubicBezTo>
                <a:close/>
              </a:path>
            </a:pathLst>
          </a:custGeom>
          <a:noFill/>
          <a:ln>
            <a:solidFill>
              <a:schemeClr val="accent3">
                <a:lumMod val="25000"/>
              </a:schemeClr>
            </a:solidFill>
            <a:prstDash val="lgDash"/>
            <a:extLst>
              <a:ext uri="{C807C97D-BFC1-408E-A445-0C87EB9F89A2}">
                <ask:lineSketchStyleProps xmlns:ask="http://schemas.microsoft.com/office/drawing/2018/sketchyshapes" sd="2536362885">
                  <a:prstGeom prst="flowChartAlternateProcess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4" name="Google Shape;144;p17">
            <a:extLst>
              <a:ext uri="{FF2B5EF4-FFF2-40B4-BE49-F238E27FC236}">
                <a16:creationId xmlns:a16="http://schemas.microsoft.com/office/drawing/2014/main" id="{51631F96-A3C5-4BD5-AC16-BFF1422700F9}"/>
              </a:ext>
            </a:extLst>
          </p:cNvPr>
          <p:cNvGrpSpPr/>
          <p:nvPr/>
        </p:nvGrpSpPr>
        <p:grpSpPr>
          <a:xfrm>
            <a:off x="782854" y="2117250"/>
            <a:ext cx="2180108" cy="645272"/>
            <a:chOff x="0" y="0"/>
            <a:chExt cx="1431002" cy="194470"/>
          </a:xfrm>
          <a:noFill/>
        </p:grpSpPr>
        <p:sp>
          <p:nvSpPr>
            <p:cNvPr id="85" name="Google Shape;145;p17">
              <a:extLst>
                <a:ext uri="{FF2B5EF4-FFF2-40B4-BE49-F238E27FC236}">
                  <a16:creationId xmlns:a16="http://schemas.microsoft.com/office/drawing/2014/main" id="{F1E2F22F-D1DC-434E-BD00-0975EE65A397}"/>
                </a:ext>
              </a:extLst>
            </p:cNvPr>
            <p:cNvSpPr/>
            <p:nvPr/>
          </p:nvSpPr>
          <p:spPr>
            <a:xfrm>
              <a:off x="0" y="0"/>
              <a:ext cx="1430911" cy="194470"/>
            </a:xfrm>
            <a:custGeom>
              <a:avLst/>
              <a:gdLst/>
              <a:ahLst/>
              <a:cxnLst/>
              <a:rect l="l" t="t" r="r" b="b"/>
              <a:pathLst>
                <a:path w="1430911" h="194470" extrusionOk="0">
                  <a:moveTo>
                    <a:pt x="29925" y="0"/>
                  </a:moveTo>
                  <a:lnTo>
                    <a:pt x="1400986" y="0"/>
                  </a:lnTo>
                  <a:cubicBezTo>
                    <a:pt x="1408923" y="0"/>
                    <a:pt x="1416534" y="3153"/>
                    <a:pt x="1422146" y="8765"/>
                  </a:cubicBezTo>
                  <a:cubicBezTo>
                    <a:pt x="1427758" y="14377"/>
                    <a:pt x="1430911" y="21988"/>
                    <a:pt x="1430911" y="29925"/>
                  </a:cubicBezTo>
                  <a:lnTo>
                    <a:pt x="1430911" y="164545"/>
                  </a:lnTo>
                  <a:cubicBezTo>
                    <a:pt x="1430911" y="172482"/>
                    <a:pt x="1427758" y="180093"/>
                    <a:pt x="1422146" y="185705"/>
                  </a:cubicBezTo>
                  <a:cubicBezTo>
                    <a:pt x="1416534" y="191317"/>
                    <a:pt x="1408923" y="194470"/>
                    <a:pt x="1400986" y="194470"/>
                  </a:cubicBezTo>
                  <a:lnTo>
                    <a:pt x="29925" y="194470"/>
                  </a:lnTo>
                  <a:cubicBezTo>
                    <a:pt x="21988" y="194470"/>
                    <a:pt x="14377" y="191317"/>
                    <a:pt x="8765" y="185705"/>
                  </a:cubicBezTo>
                  <a:cubicBezTo>
                    <a:pt x="3153" y="180093"/>
                    <a:pt x="0" y="172482"/>
                    <a:pt x="0" y="164545"/>
                  </a:cubicBezTo>
                  <a:lnTo>
                    <a:pt x="0" y="29925"/>
                  </a:lnTo>
                  <a:cubicBezTo>
                    <a:pt x="0" y="21988"/>
                    <a:pt x="3153" y="14377"/>
                    <a:pt x="8765" y="8765"/>
                  </a:cubicBezTo>
                  <a:cubicBezTo>
                    <a:pt x="14377" y="3153"/>
                    <a:pt x="21988" y="0"/>
                    <a:pt x="299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>
                <a:solidFill>
                  <a:schemeClr val="accent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6" name="Google Shape;146;p17">
              <a:extLst>
                <a:ext uri="{FF2B5EF4-FFF2-40B4-BE49-F238E27FC236}">
                  <a16:creationId xmlns:a16="http://schemas.microsoft.com/office/drawing/2014/main" id="{5FD78D92-BEB9-4AC3-9662-383623995D7A}"/>
                </a:ext>
              </a:extLst>
            </p:cNvPr>
            <p:cNvSpPr txBox="1"/>
            <p:nvPr/>
          </p:nvSpPr>
          <p:spPr>
            <a:xfrm>
              <a:off x="2" y="3"/>
              <a:ext cx="1431000" cy="1944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1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2000" dirty="0">
                  <a:solidFill>
                    <a:schemeClr val="accent2">
                      <a:lumMod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Frontend</a:t>
              </a:r>
              <a:endParaRPr sz="1050" dirty="0">
                <a:solidFill>
                  <a:schemeClr val="accent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88" name="Google Shape;155;p17">
            <a:extLst>
              <a:ext uri="{FF2B5EF4-FFF2-40B4-BE49-F238E27FC236}">
                <a16:creationId xmlns:a16="http://schemas.microsoft.com/office/drawing/2014/main" id="{6B7730D9-73EC-4FF7-8477-A4F479EA2F9B}"/>
              </a:ext>
            </a:extLst>
          </p:cNvPr>
          <p:cNvSpPr txBox="1"/>
          <p:nvPr/>
        </p:nvSpPr>
        <p:spPr>
          <a:xfrm>
            <a:off x="896102" y="3026888"/>
            <a:ext cx="1938384" cy="2215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indent="-342900">
              <a:lnSpc>
                <a:spcPct val="200000"/>
              </a:lnSpc>
              <a:buClr>
                <a:srgbClr val="9966FF"/>
              </a:buClr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accent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React.js </a:t>
            </a:r>
          </a:p>
          <a:p>
            <a:pPr marL="342900" indent="-342900">
              <a:lnSpc>
                <a:spcPct val="200000"/>
              </a:lnSpc>
              <a:buClr>
                <a:srgbClr val="9966FF"/>
              </a:buClr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accent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TypeScript </a:t>
            </a:r>
          </a:p>
          <a:p>
            <a:pPr marL="342900" indent="-342900">
              <a:lnSpc>
                <a:spcPct val="200000"/>
              </a:lnSpc>
              <a:buClr>
                <a:srgbClr val="9966FF"/>
              </a:buClr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accent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Tailwind CSS </a:t>
            </a:r>
          </a:p>
          <a:p>
            <a:pPr marL="342900" indent="-342900">
              <a:lnSpc>
                <a:spcPct val="200000"/>
              </a:lnSpc>
              <a:buClr>
                <a:srgbClr val="9966FF"/>
              </a:buClr>
              <a:buFont typeface="Wingdings" panose="05000000000000000000" pitchFamily="2" charset="2"/>
              <a:buChar char="v"/>
            </a:pPr>
            <a:r>
              <a:rPr lang="en-US" dirty="0" err="1">
                <a:solidFill>
                  <a:schemeClr val="accent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Vite</a:t>
            </a:r>
            <a:endParaRPr lang="en-US" dirty="0">
              <a:solidFill>
                <a:schemeClr val="accent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9" name="Google Shape;157;p17">
            <a:extLst>
              <a:ext uri="{FF2B5EF4-FFF2-40B4-BE49-F238E27FC236}">
                <a16:creationId xmlns:a16="http://schemas.microsoft.com/office/drawing/2014/main" id="{6FE15704-8879-43CA-AE94-94ED879D9171}"/>
              </a:ext>
            </a:extLst>
          </p:cNvPr>
          <p:cNvSpPr txBox="1"/>
          <p:nvPr/>
        </p:nvSpPr>
        <p:spPr>
          <a:xfrm>
            <a:off x="1006049" y="443730"/>
            <a:ext cx="10239065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800" dirty="0">
                <a:solidFill>
                  <a:schemeClr val="accent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Details &amp; Technology Stack</a:t>
            </a:r>
            <a:endParaRPr lang="en-US" sz="900" dirty="0">
              <a:solidFill>
                <a:schemeClr val="accent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2" name="Google Shape;146;p17">
            <a:extLst>
              <a:ext uri="{FF2B5EF4-FFF2-40B4-BE49-F238E27FC236}">
                <a16:creationId xmlns:a16="http://schemas.microsoft.com/office/drawing/2014/main" id="{D15F8C56-F0CD-46E3-90C9-DB5EE840F13A}"/>
              </a:ext>
            </a:extLst>
          </p:cNvPr>
          <p:cNvSpPr txBox="1"/>
          <p:nvPr/>
        </p:nvSpPr>
        <p:spPr>
          <a:xfrm>
            <a:off x="3424294" y="2122836"/>
            <a:ext cx="2180105" cy="645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dirty="0">
                <a:solidFill>
                  <a:schemeClr val="accent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Backend</a:t>
            </a:r>
          </a:p>
        </p:txBody>
      </p:sp>
      <p:sp>
        <p:nvSpPr>
          <p:cNvPr id="93" name="Google Shape;155;p17">
            <a:extLst>
              <a:ext uri="{FF2B5EF4-FFF2-40B4-BE49-F238E27FC236}">
                <a16:creationId xmlns:a16="http://schemas.microsoft.com/office/drawing/2014/main" id="{36ED1C0D-DE1F-4FE8-963E-DAE8D4F089A5}"/>
              </a:ext>
            </a:extLst>
          </p:cNvPr>
          <p:cNvSpPr txBox="1"/>
          <p:nvPr/>
        </p:nvSpPr>
        <p:spPr>
          <a:xfrm>
            <a:off x="3618184" y="3021523"/>
            <a:ext cx="1938384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marR="0" lvl="1" indent="-3429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9966FF"/>
              </a:buClr>
              <a:buFont typeface="Wingdings" panose="05000000000000000000" pitchFamily="2" charset="2"/>
              <a:buChar char="v"/>
            </a:pPr>
            <a:r>
              <a:rPr lang="en-US" b="0" i="0" u="none" strike="noStrike" cap="none" dirty="0">
                <a:solidFill>
                  <a:schemeClr val="accent2">
                    <a:lumMod val="25000"/>
                  </a:schemeClr>
                </a:solidFill>
                <a:latin typeface="Arial" panose="020B0604020202020204" pitchFamily="34" charset="0"/>
                <a:ea typeface="Inclusive Sans"/>
                <a:cs typeface="Arial" panose="020B0604020202020204" pitchFamily="34" charset="0"/>
                <a:sym typeface="Inclusive Sans"/>
              </a:rPr>
              <a:t>Node.js</a:t>
            </a:r>
          </a:p>
          <a:p>
            <a:pPr marL="342900" marR="0" lvl="1" indent="-3429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9966FF"/>
              </a:buClr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accent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Inclusive Sans"/>
              </a:rPr>
              <a:t>Express.js</a:t>
            </a:r>
            <a:endParaRPr lang="en-US" dirty="0">
              <a:solidFill>
                <a:schemeClr val="accent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95" name="Google Shape;144;p17">
            <a:extLst>
              <a:ext uri="{FF2B5EF4-FFF2-40B4-BE49-F238E27FC236}">
                <a16:creationId xmlns:a16="http://schemas.microsoft.com/office/drawing/2014/main" id="{DB94D25B-E0C9-49B8-A84F-949299958E25}"/>
              </a:ext>
            </a:extLst>
          </p:cNvPr>
          <p:cNvGrpSpPr/>
          <p:nvPr/>
        </p:nvGrpSpPr>
        <p:grpSpPr>
          <a:xfrm>
            <a:off x="6309878" y="2111885"/>
            <a:ext cx="2180108" cy="645272"/>
            <a:chOff x="0" y="0"/>
            <a:chExt cx="1431002" cy="194470"/>
          </a:xfrm>
          <a:noFill/>
        </p:grpSpPr>
        <p:sp>
          <p:nvSpPr>
            <p:cNvPr id="96" name="Google Shape;145;p17">
              <a:extLst>
                <a:ext uri="{FF2B5EF4-FFF2-40B4-BE49-F238E27FC236}">
                  <a16:creationId xmlns:a16="http://schemas.microsoft.com/office/drawing/2014/main" id="{7F792418-BEB4-404E-8D17-CD17270E22D3}"/>
                </a:ext>
              </a:extLst>
            </p:cNvPr>
            <p:cNvSpPr/>
            <p:nvPr/>
          </p:nvSpPr>
          <p:spPr>
            <a:xfrm>
              <a:off x="0" y="0"/>
              <a:ext cx="1430911" cy="194470"/>
            </a:xfrm>
            <a:custGeom>
              <a:avLst/>
              <a:gdLst/>
              <a:ahLst/>
              <a:cxnLst/>
              <a:rect l="l" t="t" r="r" b="b"/>
              <a:pathLst>
                <a:path w="1430911" h="194470" extrusionOk="0">
                  <a:moveTo>
                    <a:pt x="29925" y="0"/>
                  </a:moveTo>
                  <a:lnTo>
                    <a:pt x="1400986" y="0"/>
                  </a:lnTo>
                  <a:cubicBezTo>
                    <a:pt x="1408923" y="0"/>
                    <a:pt x="1416534" y="3153"/>
                    <a:pt x="1422146" y="8765"/>
                  </a:cubicBezTo>
                  <a:cubicBezTo>
                    <a:pt x="1427758" y="14377"/>
                    <a:pt x="1430911" y="21988"/>
                    <a:pt x="1430911" y="29925"/>
                  </a:cubicBezTo>
                  <a:lnTo>
                    <a:pt x="1430911" y="164545"/>
                  </a:lnTo>
                  <a:cubicBezTo>
                    <a:pt x="1430911" y="172482"/>
                    <a:pt x="1427758" y="180093"/>
                    <a:pt x="1422146" y="185705"/>
                  </a:cubicBezTo>
                  <a:cubicBezTo>
                    <a:pt x="1416534" y="191317"/>
                    <a:pt x="1408923" y="194470"/>
                    <a:pt x="1400986" y="194470"/>
                  </a:cubicBezTo>
                  <a:lnTo>
                    <a:pt x="29925" y="194470"/>
                  </a:lnTo>
                  <a:cubicBezTo>
                    <a:pt x="21988" y="194470"/>
                    <a:pt x="14377" y="191317"/>
                    <a:pt x="8765" y="185705"/>
                  </a:cubicBezTo>
                  <a:cubicBezTo>
                    <a:pt x="3153" y="180093"/>
                    <a:pt x="0" y="172482"/>
                    <a:pt x="0" y="164545"/>
                  </a:cubicBezTo>
                  <a:lnTo>
                    <a:pt x="0" y="29925"/>
                  </a:lnTo>
                  <a:cubicBezTo>
                    <a:pt x="0" y="21988"/>
                    <a:pt x="3153" y="14377"/>
                    <a:pt x="8765" y="8765"/>
                  </a:cubicBezTo>
                  <a:cubicBezTo>
                    <a:pt x="14377" y="3153"/>
                    <a:pt x="21988" y="0"/>
                    <a:pt x="299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7" name="Google Shape;146;p17">
              <a:extLst>
                <a:ext uri="{FF2B5EF4-FFF2-40B4-BE49-F238E27FC236}">
                  <a16:creationId xmlns:a16="http://schemas.microsoft.com/office/drawing/2014/main" id="{F189D2E2-7CC8-4D2C-AFEF-9A9781B42629}"/>
                </a:ext>
              </a:extLst>
            </p:cNvPr>
            <p:cNvSpPr txBox="1"/>
            <p:nvPr/>
          </p:nvSpPr>
          <p:spPr>
            <a:xfrm>
              <a:off x="2" y="3"/>
              <a:ext cx="1431000" cy="1944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1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2000" dirty="0">
                  <a:solidFill>
                    <a:schemeClr val="accent2">
                      <a:lumMod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Database</a:t>
              </a:r>
            </a:p>
          </p:txBody>
        </p:sp>
      </p:grpSp>
      <p:sp>
        <p:nvSpPr>
          <p:cNvPr id="98" name="Google Shape;155;p17">
            <a:extLst>
              <a:ext uri="{FF2B5EF4-FFF2-40B4-BE49-F238E27FC236}">
                <a16:creationId xmlns:a16="http://schemas.microsoft.com/office/drawing/2014/main" id="{52FC8345-4FDC-44B5-B98E-7634046E652E}"/>
              </a:ext>
            </a:extLst>
          </p:cNvPr>
          <p:cNvSpPr txBox="1"/>
          <p:nvPr/>
        </p:nvSpPr>
        <p:spPr>
          <a:xfrm>
            <a:off x="6423126" y="3021523"/>
            <a:ext cx="1938384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marR="0" lvl="1" indent="-3429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9966FF"/>
              </a:buClr>
              <a:buFont typeface="Wingdings" panose="05000000000000000000" pitchFamily="2" charset="2"/>
              <a:buChar char="v"/>
            </a:pPr>
            <a:r>
              <a:rPr lang="en-US" b="0" i="0" u="none" strike="noStrike" cap="none" dirty="0">
                <a:solidFill>
                  <a:schemeClr val="accent2">
                    <a:lumMod val="25000"/>
                  </a:schemeClr>
                </a:solidFill>
                <a:latin typeface="Arial" panose="020B0604020202020204" pitchFamily="34" charset="0"/>
                <a:ea typeface="Inclusive Sans"/>
                <a:cs typeface="Arial" panose="020B0604020202020204" pitchFamily="34" charset="0"/>
                <a:sym typeface="Inclusive Sans"/>
              </a:rPr>
              <a:t>PostgreSQL</a:t>
            </a:r>
          </a:p>
          <a:p>
            <a:pPr marL="342900" marR="0" lvl="1" indent="-3429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9966FF"/>
              </a:buClr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accent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Inclusive Sans"/>
              </a:rPr>
              <a:t>Prisma ORM</a:t>
            </a:r>
            <a:endParaRPr lang="en-US" dirty="0">
              <a:solidFill>
                <a:schemeClr val="accent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00" name="Google Shape;144;p17">
            <a:extLst>
              <a:ext uri="{FF2B5EF4-FFF2-40B4-BE49-F238E27FC236}">
                <a16:creationId xmlns:a16="http://schemas.microsoft.com/office/drawing/2014/main" id="{E8A48638-57E8-4DE9-80FA-09AAB5D9BC82}"/>
              </a:ext>
            </a:extLst>
          </p:cNvPr>
          <p:cNvGrpSpPr/>
          <p:nvPr/>
        </p:nvGrpSpPr>
        <p:grpSpPr>
          <a:xfrm>
            <a:off x="9092165" y="2111663"/>
            <a:ext cx="2180108" cy="645272"/>
            <a:chOff x="0" y="0"/>
            <a:chExt cx="1431002" cy="194470"/>
          </a:xfrm>
          <a:noFill/>
        </p:grpSpPr>
        <p:sp>
          <p:nvSpPr>
            <p:cNvPr id="101" name="Google Shape;145;p17">
              <a:extLst>
                <a:ext uri="{FF2B5EF4-FFF2-40B4-BE49-F238E27FC236}">
                  <a16:creationId xmlns:a16="http://schemas.microsoft.com/office/drawing/2014/main" id="{2F3DF1DA-05EB-4D7A-B8CE-6525A7D5C3E0}"/>
                </a:ext>
              </a:extLst>
            </p:cNvPr>
            <p:cNvSpPr/>
            <p:nvPr/>
          </p:nvSpPr>
          <p:spPr>
            <a:xfrm>
              <a:off x="0" y="0"/>
              <a:ext cx="1430911" cy="194470"/>
            </a:xfrm>
            <a:custGeom>
              <a:avLst/>
              <a:gdLst/>
              <a:ahLst/>
              <a:cxnLst/>
              <a:rect l="l" t="t" r="r" b="b"/>
              <a:pathLst>
                <a:path w="1430911" h="194470" extrusionOk="0">
                  <a:moveTo>
                    <a:pt x="29925" y="0"/>
                  </a:moveTo>
                  <a:lnTo>
                    <a:pt x="1400986" y="0"/>
                  </a:lnTo>
                  <a:cubicBezTo>
                    <a:pt x="1408923" y="0"/>
                    <a:pt x="1416534" y="3153"/>
                    <a:pt x="1422146" y="8765"/>
                  </a:cubicBezTo>
                  <a:cubicBezTo>
                    <a:pt x="1427758" y="14377"/>
                    <a:pt x="1430911" y="21988"/>
                    <a:pt x="1430911" y="29925"/>
                  </a:cubicBezTo>
                  <a:lnTo>
                    <a:pt x="1430911" y="164545"/>
                  </a:lnTo>
                  <a:cubicBezTo>
                    <a:pt x="1430911" y="172482"/>
                    <a:pt x="1427758" y="180093"/>
                    <a:pt x="1422146" y="185705"/>
                  </a:cubicBezTo>
                  <a:cubicBezTo>
                    <a:pt x="1416534" y="191317"/>
                    <a:pt x="1408923" y="194470"/>
                    <a:pt x="1400986" y="194470"/>
                  </a:cubicBezTo>
                  <a:lnTo>
                    <a:pt x="29925" y="194470"/>
                  </a:lnTo>
                  <a:cubicBezTo>
                    <a:pt x="21988" y="194470"/>
                    <a:pt x="14377" y="191317"/>
                    <a:pt x="8765" y="185705"/>
                  </a:cubicBezTo>
                  <a:cubicBezTo>
                    <a:pt x="3153" y="180093"/>
                    <a:pt x="0" y="172482"/>
                    <a:pt x="0" y="164545"/>
                  </a:cubicBezTo>
                  <a:lnTo>
                    <a:pt x="0" y="29925"/>
                  </a:lnTo>
                  <a:cubicBezTo>
                    <a:pt x="0" y="21988"/>
                    <a:pt x="3153" y="14377"/>
                    <a:pt x="8765" y="8765"/>
                  </a:cubicBezTo>
                  <a:cubicBezTo>
                    <a:pt x="14377" y="3153"/>
                    <a:pt x="21988" y="0"/>
                    <a:pt x="299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2" name="Google Shape;146;p17">
              <a:extLst>
                <a:ext uri="{FF2B5EF4-FFF2-40B4-BE49-F238E27FC236}">
                  <a16:creationId xmlns:a16="http://schemas.microsoft.com/office/drawing/2014/main" id="{1C07CAC3-F3B9-4BBC-A056-843DCA68116A}"/>
                </a:ext>
              </a:extLst>
            </p:cNvPr>
            <p:cNvSpPr txBox="1"/>
            <p:nvPr/>
          </p:nvSpPr>
          <p:spPr>
            <a:xfrm>
              <a:off x="2" y="3"/>
              <a:ext cx="1431000" cy="1944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1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2000" dirty="0">
                  <a:solidFill>
                    <a:schemeClr val="accent2">
                      <a:lumMod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Dev-tools</a:t>
              </a:r>
            </a:p>
          </p:txBody>
        </p:sp>
      </p:grpSp>
      <p:sp>
        <p:nvSpPr>
          <p:cNvPr id="103" name="Google Shape;155;p17">
            <a:extLst>
              <a:ext uri="{FF2B5EF4-FFF2-40B4-BE49-F238E27FC236}">
                <a16:creationId xmlns:a16="http://schemas.microsoft.com/office/drawing/2014/main" id="{FF89466D-F73D-4CBF-954D-18A744ED603E}"/>
              </a:ext>
            </a:extLst>
          </p:cNvPr>
          <p:cNvSpPr txBox="1"/>
          <p:nvPr/>
        </p:nvSpPr>
        <p:spPr>
          <a:xfrm>
            <a:off x="9205412" y="3021301"/>
            <a:ext cx="2419316" cy="1661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marR="0" lvl="1" indent="-3429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9966FF"/>
              </a:buClr>
              <a:buFont typeface="Wingdings" panose="05000000000000000000" pitchFamily="2" charset="2"/>
              <a:buChar char="v"/>
            </a:pPr>
            <a:r>
              <a:rPr lang="en-IN" dirty="0">
                <a:solidFill>
                  <a:schemeClr val="accent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Visual Studio Code</a:t>
            </a:r>
          </a:p>
          <a:p>
            <a:pPr marL="342900" marR="0" lvl="1" indent="-3429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9966FF"/>
              </a:buClr>
              <a:buFont typeface="Wingdings" panose="05000000000000000000" pitchFamily="2" charset="2"/>
              <a:buChar char="v"/>
            </a:pPr>
            <a:r>
              <a:rPr lang="en-IN" dirty="0">
                <a:solidFill>
                  <a:schemeClr val="accent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Git &amp; GitHub</a:t>
            </a:r>
          </a:p>
          <a:p>
            <a:pPr marL="342900" marR="0" lvl="1" indent="-3429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9966FF"/>
              </a:buClr>
              <a:buFont typeface="Wingdings" panose="05000000000000000000" pitchFamily="2" charset="2"/>
              <a:buChar char="v"/>
            </a:pPr>
            <a:r>
              <a:rPr lang="en-IN" dirty="0" err="1">
                <a:solidFill>
                  <a:schemeClr val="accent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pgAdmin</a:t>
            </a:r>
            <a:r>
              <a:rPr lang="en-IN" dirty="0">
                <a:solidFill>
                  <a:schemeClr val="accent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4</a:t>
            </a:r>
            <a:endParaRPr lang="en-US" dirty="0">
              <a:solidFill>
                <a:schemeClr val="accent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15B8FEAE-691D-47AD-8B7B-C6E5C94551ED}"/>
              </a:ext>
            </a:extLst>
          </p:cNvPr>
          <p:cNvCxnSpPr>
            <a:cxnSpLocks/>
          </p:cNvCxnSpPr>
          <p:nvPr/>
        </p:nvCxnSpPr>
        <p:spPr>
          <a:xfrm flipV="1">
            <a:off x="3241891" y="2435386"/>
            <a:ext cx="0" cy="2670772"/>
          </a:xfrm>
          <a:prstGeom prst="line">
            <a:avLst/>
          </a:prstGeom>
          <a:ln>
            <a:solidFill>
              <a:schemeClr val="accent3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3A0C0266-8FBF-44FF-8C2D-6D825BA3AC4E}"/>
              </a:ext>
            </a:extLst>
          </p:cNvPr>
          <p:cNvCxnSpPr>
            <a:cxnSpLocks/>
          </p:cNvCxnSpPr>
          <p:nvPr/>
        </p:nvCxnSpPr>
        <p:spPr>
          <a:xfrm flipV="1">
            <a:off x="6013762" y="2415766"/>
            <a:ext cx="0" cy="2670772"/>
          </a:xfrm>
          <a:prstGeom prst="line">
            <a:avLst/>
          </a:prstGeom>
          <a:ln>
            <a:solidFill>
              <a:schemeClr val="accent3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3C399BF2-DF20-4408-A0CA-897E3C5985AD}"/>
              </a:ext>
            </a:extLst>
          </p:cNvPr>
          <p:cNvCxnSpPr>
            <a:cxnSpLocks/>
          </p:cNvCxnSpPr>
          <p:nvPr/>
        </p:nvCxnSpPr>
        <p:spPr>
          <a:xfrm flipV="1">
            <a:off x="8788650" y="2415766"/>
            <a:ext cx="0" cy="2670772"/>
          </a:xfrm>
          <a:prstGeom prst="line">
            <a:avLst/>
          </a:prstGeom>
          <a:ln>
            <a:solidFill>
              <a:schemeClr val="accent3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B483C308-05B8-4208-97FB-55E5923A41C7}"/>
              </a:ext>
            </a:extLst>
          </p:cNvPr>
          <p:cNvCxnSpPr/>
          <p:nvPr/>
        </p:nvCxnSpPr>
        <p:spPr>
          <a:xfrm>
            <a:off x="3232087" y="3793402"/>
            <a:ext cx="0" cy="0"/>
          </a:xfrm>
          <a:prstGeom prst="line">
            <a:avLst/>
          </a:prstGeom>
          <a:ln>
            <a:solidFill>
              <a:schemeClr val="accent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85073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2181D-911C-1343-7267-E35AC86CC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850392"/>
            <a:ext cx="3913632" cy="4800600"/>
          </a:xfrm>
          <a:noFill/>
        </p:spPr>
        <p:txBody>
          <a:bodyPr anchor="ctr">
            <a:noAutofit/>
          </a:bodyPr>
          <a:lstStyle/>
          <a:p>
            <a:r>
              <a:rPr lang="en-US" sz="4000" b="1" i="0" u="none" strike="noStrike" cap="none" dirty="0">
                <a:solidFill>
                  <a:srgbClr val="002060"/>
                </a:solidFill>
                <a:latin typeface="Arial" panose="020B0604020202020204" pitchFamily="34" charset="0"/>
                <a:ea typeface="Merriweather Sans Light"/>
                <a:cs typeface="Arial" panose="020B0604020202020204" pitchFamily="34" charset="0"/>
                <a:sym typeface="Merriweather Sans Light"/>
              </a:rPr>
              <a:t>Introduction</a:t>
            </a:r>
            <a:endParaRPr lang="en-US" sz="40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EA8735-F1DC-1DE6-0A38-429B2F660F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7101" y="1965960"/>
            <a:ext cx="5866646" cy="2953512"/>
          </a:xfrm>
          <a:noFill/>
        </p:spPr>
        <p:txBody>
          <a:bodyPr>
            <a:noAutofit/>
          </a:bodyPr>
          <a:lstStyle/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cap="none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real-time restaurant management &amp; POS system is a web-based application developed to automate restaurant operations. It provides </a:t>
            </a:r>
            <a:r>
              <a:rPr lang="en-US" sz="1800" cap="none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qr</a:t>
            </a:r>
            <a:r>
              <a:rPr lang="en-US" sz="1800" cap="none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-code based ordering, real-time kitchen updates, secure billing, inventory management, and role-based access for different users.</a:t>
            </a:r>
            <a:endParaRPr lang="en-US" sz="1800" b="0" i="0" u="none" strike="noStrike" cap="none" dirty="0">
              <a:solidFill>
                <a:srgbClr val="002060"/>
              </a:solidFill>
              <a:latin typeface="Arial" panose="020B0604020202020204" pitchFamily="34" charset="0"/>
              <a:ea typeface="Inclusive Sans"/>
              <a:cs typeface="Arial" panose="020B0604020202020204" pitchFamily="34" charset="0"/>
              <a:sym typeface="Inclusive Sans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6AA7FF5-11CA-8F71-5951-B10993962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5912" y="6563001"/>
            <a:ext cx="2743200" cy="228600"/>
          </a:xfrm>
        </p:spPr>
        <p:txBody>
          <a:bodyPr/>
          <a:lstStyle/>
          <a:p>
            <a:fld id="{CBD12358-51D2-46B3-9BDE-DF29528B9454}" type="slidenum">
              <a:rPr lang="en-US" sz="1100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3</a:t>
            </a:fld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89568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19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5F5E3-2B1C-7C0A-8581-67A9052D1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277856" cy="1655064"/>
          </a:xfrm>
          <a:noFill/>
        </p:spPr>
        <p:txBody>
          <a:bodyPr anchor="b">
            <a:noAutofit/>
          </a:bodyPr>
          <a:lstStyle/>
          <a:p>
            <a:r>
              <a:rPr lang="en-US" sz="4000" b="1" i="0" u="none" strike="noStrike" cap="none" dirty="0">
                <a:solidFill>
                  <a:srgbClr val="002060"/>
                </a:solidFill>
                <a:latin typeface="Arial" panose="020B0604020202020204" pitchFamily="34" charset="0"/>
                <a:ea typeface="Merriweather Sans Light"/>
                <a:cs typeface="Arial" panose="020B0604020202020204" pitchFamily="34" charset="0"/>
                <a:sym typeface="Merriweather Sans Light"/>
              </a:rPr>
              <a:t>Existing System</a:t>
            </a:r>
            <a:endParaRPr lang="en-US" sz="40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33159-D030-2F82-A142-F759407283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304" y="2313432"/>
            <a:ext cx="6327648" cy="3218688"/>
          </a:xfrm>
          <a:noFill/>
        </p:spPr>
        <p:txBody>
          <a:bodyPr>
            <a:noAutofit/>
          </a:bodyPr>
          <a:lstStyle/>
          <a:p>
            <a:pPr marL="457200" marR="0" lvl="0" indent="-457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A477FF"/>
              </a:buClr>
              <a:buFont typeface="Wingdings" panose="05000000000000000000" pitchFamily="2" charset="2"/>
              <a:buChar char="v"/>
            </a:pPr>
            <a:r>
              <a:rPr lang="en-US" sz="18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 risk of billing and order errors</a:t>
            </a:r>
          </a:p>
          <a:p>
            <a:pPr marL="457200" marR="0" lvl="0" indent="-457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A477FF"/>
              </a:buClr>
              <a:buFont typeface="Wingdings" panose="05000000000000000000" pitchFamily="2" charset="2"/>
              <a:buChar char="v"/>
            </a:pPr>
            <a:r>
              <a:rPr lang="en-US" sz="18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Lagging inventory updates</a:t>
            </a:r>
          </a:p>
          <a:p>
            <a:pPr marL="457200" marR="0" lvl="0" indent="-457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A477FF"/>
              </a:buClr>
              <a:buFont typeface="Wingdings" panose="05000000000000000000" pitchFamily="2" charset="2"/>
              <a:buChar char="v"/>
            </a:pPr>
            <a:r>
              <a:rPr lang="en-US" sz="18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Slow peak-hour billing</a:t>
            </a:r>
          </a:p>
          <a:p>
            <a:pPr marL="342900" marR="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A477FF"/>
              </a:buClr>
              <a:buFont typeface="Wingdings" panose="05000000000000000000" pitchFamily="2" charset="2"/>
              <a:buChar char="v"/>
            </a:pPr>
            <a:r>
              <a:rPr lang="en-US" sz="18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Manual waiter-to-kitchen communication</a:t>
            </a:r>
          </a:p>
          <a:p>
            <a:pPr marL="342900" marR="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A477FF"/>
              </a:buClr>
              <a:buFont typeface="Wingdings" panose="05000000000000000000" pitchFamily="2" charset="2"/>
              <a:buChar char="v"/>
            </a:pPr>
            <a:r>
              <a:rPr lang="en-IN" sz="18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Paper-based ordering process</a:t>
            </a:r>
          </a:p>
          <a:p>
            <a:pPr marL="342900" marR="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A477FF"/>
              </a:buClr>
              <a:buFont typeface="Wingdings" panose="05000000000000000000" pitchFamily="2" charset="2"/>
              <a:buChar char="v"/>
            </a:pPr>
            <a:endParaRPr lang="en-US" sz="1800" b="0" i="0" u="none" strike="noStrike" cap="none" dirty="0">
              <a:solidFill>
                <a:srgbClr val="002060"/>
              </a:solidFill>
              <a:latin typeface="Arial" panose="020B0604020202020204" pitchFamily="34" charset="0"/>
              <a:ea typeface="Inclusive Sans"/>
              <a:cs typeface="Arial" panose="020B0604020202020204" pitchFamily="34" charset="0"/>
              <a:sym typeface="Inclusive Sans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D7B9109-9E17-1A7A-3A9A-0F1C07BF3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5912" y="6563001"/>
            <a:ext cx="2743200" cy="228600"/>
          </a:xfrm>
        </p:spPr>
        <p:txBody>
          <a:bodyPr/>
          <a:lstStyle/>
          <a:p>
            <a:fld id="{CBD12358-51D2-46B3-9BDE-DF29528B9454}" type="slidenum">
              <a:rPr lang="en-US" sz="1100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4</a:t>
            </a:fld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95109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19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5F5E3-2B1C-7C0A-8581-67A9052D1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277856" cy="1655064"/>
          </a:xfrm>
          <a:noFill/>
        </p:spPr>
        <p:txBody>
          <a:bodyPr anchor="b">
            <a:noAutofit/>
          </a:bodyPr>
          <a:lstStyle/>
          <a:p>
            <a:r>
              <a:rPr lang="en-US" sz="4000" dirty="0">
                <a:solidFill>
                  <a:srgbClr val="002060"/>
                </a:solidFill>
                <a:latin typeface="Arial" panose="020B0604020202020204" pitchFamily="34" charset="0"/>
                <a:ea typeface="Merriweather Sans Light"/>
                <a:cs typeface="Arial" panose="020B0604020202020204" pitchFamily="34" charset="0"/>
                <a:sym typeface="Merriweather Sans Light"/>
              </a:rPr>
              <a:t>Proposed</a:t>
            </a:r>
            <a:r>
              <a:rPr lang="en-US" sz="4000" b="1" i="0" u="none" strike="noStrike" cap="none" dirty="0">
                <a:solidFill>
                  <a:srgbClr val="002060"/>
                </a:solidFill>
                <a:latin typeface="Arial" panose="020B0604020202020204" pitchFamily="34" charset="0"/>
                <a:ea typeface="Merriweather Sans Light"/>
                <a:cs typeface="Arial" panose="020B0604020202020204" pitchFamily="34" charset="0"/>
                <a:sym typeface="Merriweather Sans Light"/>
              </a:rPr>
              <a:t> System</a:t>
            </a:r>
            <a:endParaRPr lang="en-US" sz="40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33159-D030-2F82-A142-F759407283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304" y="2313432"/>
            <a:ext cx="6327648" cy="3218688"/>
          </a:xfrm>
          <a:noFill/>
        </p:spPr>
        <p:txBody>
          <a:bodyPr>
            <a:noAutofit/>
          </a:bodyPr>
          <a:lstStyle/>
          <a:p>
            <a:pPr marL="457200" marR="0" lvl="0" indent="-457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A477FF"/>
              </a:buClr>
              <a:buFont typeface="Wingdings" panose="05000000000000000000" pitchFamily="2" charset="2"/>
              <a:buChar char="v"/>
            </a:pPr>
            <a:r>
              <a:rPr lang="en-IN" sz="18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QR Code based ordering</a:t>
            </a:r>
          </a:p>
          <a:p>
            <a:pPr marL="457200" marR="0" lvl="0" indent="-457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A477FF"/>
              </a:buClr>
              <a:buFont typeface="Wingdings" panose="05000000000000000000" pitchFamily="2" charset="2"/>
              <a:buChar char="v"/>
            </a:pPr>
            <a:r>
              <a:rPr lang="en-US" sz="18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Real-time Kitchen Display System (KDS)</a:t>
            </a:r>
          </a:p>
          <a:p>
            <a:pPr marL="457200" marR="0" lvl="0" indent="-457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A477FF"/>
              </a:buClr>
              <a:buFont typeface="Wingdings" panose="05000000000000000000" pitchFamily="2" charset="2"/>
              <a:buChar char="v"/>
            </a:pPr>
            <a:r>
              <a:rPr lang="en-IN" sz="18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Live inventory updates</a:t>
            </a:r>
          </a:p>
          <a:p>
            <a:pPr marL="457200" marR="0" lvl="0" indent="-457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A477FF"/>
              </a:buClr>
              <a:buFont typeface="Wingdings" panose="05000000000000000000" pitchFamily="2" charset="2"/>
              <a:buChar char="v"/>
            </a:pPr>
            <a:r>
              <a:rPr lang="en-IN" sz="18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Secure session-based billing</a:t>
            </a:r>
          </a:p>
          <a:p>
            <a:pPr marL="457200" marR="0" lvl="0" indent="-457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A477FF"/>
              </a:buClr>
              <a:buFont typeface="Wingdings" panose="05000000000000000000" pitchFamily="2" charset="2"/>
              <a:buChar char="v"/>
            </a:pPr>
            <a:r>
              <a:rPr lang="en-US" sz="18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Faster order processing using </a:t>
            </a:r>
            <a:r>
              <a:rPr lang="en-US" sz="18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WebSockets</a:t>
            </a:r>
            <a:endParaRPr lang="en-US" sz="18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0" indent="-457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A477FF"/>
              </a:buClr>
              <a:buFont typeface="Wingdings" panose="05000000000000000000" pitchFamily="2" charset="2"/>
              <a:buChar char="v"/>
            </a:pPr>
            <a:r>
              <a:rPr lang="en-IN" sz="18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Role-based access control</a:t>
            </a:r>
            <a:endParaRPr lang="en-US" sz="1800" b="0" i="0" u="none" strike="noStrike" cap="none" dirty="0">
              <a:solidFill>
                <a:srgbClr val="002060"/>
              </a:solidFill>
              <a:latin typeface="Arial" panose="020B0604020202020204" pitchFamily="34" charset="0"/>
              <a:ea typeface="Inclusive Sans"/>
              <a:cs typeface="Arial" panose="020B0604020202020204" pitchFamily="34" charset="0"/>
              <a:sym typeface="Inclusive Sans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D7B9109-9E17-1A7A-3A9A-0F1C07BF3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5912" y="6563001"/>
            <a:ext cx="2743200" cy="228600"/>
          </a:xfrm>
        </p:spPr>
        <p:txBody>
          <a:bodyPr/>
          <a:lstStyle/>
          <a:p>
            <a:fld id="{CBD12358-51D2-46B3-9BDE-DF29528B9454}" type="slidenum">
              <a:rPr lang="en-US" sz="1100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5</a:t>
            </a:fld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40881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FE895F7C-966E-4C88-A03E-6EC452E0B1F0}"/>
              </a:ext>
            </a:extLst>
          </p:cNvPr>
          <p:cNvSpPr/>
          <p:nvPr/>
        </p:nvSpPr>
        <p:spPr>
          <a:xfrm>
            <a:off x="3085027" y="2969693"/>
            <a:ext cx="8349195" cy="955498"/>
          </a:xfrm>
          <a:custGeom>
            <a:avLst/>
            <a:gdLst>
              <a:gd name="connsiteX0" fmla="*/ 0 w 8349195"/>
              <a:gd name="connsiteY0" fmla="*/ 159253 h 955498"/>
              <a:gd name="connsiteX1" fmla="*/ 159253 w 8349195"/>
              <a:gd name="connsiteY1" fmla="*/ 0 h 955498"/>
              <a:gd name="connsiteX2" fmla="*/ 989091 w 8349195"/>
              <a:gd name="connsiteY2" fmla="*/ 0 h 955498"/>
              <a:gd name="connsiteX3" fmla="*/ 1578008 w 8349195"/>
              <a:gd name="connsiteY3" fmla="*/ 0 h 955498"/>
              <a:gd name="connsiteX4" fmla="*/ 2086618 w 8349195"/>
              <a:gd name="connsiteY4" fmla="*/ 0 h 955498"/>
              <a:gd name="connsiteX5" fmla="*/ 2836149 w 8349195"/>
              <a:gd name="connsiteY5" fmla="*/ 0 h 955498"/>
              <a:gd name="connsiteX6" fmla="*/ 3425067 w 8349195"/>
              <a:gd name="connsiteY6" fmla="*/ 0 h 955498"/>
              <a:gd name="connsiteX7" fmla="*/ 4254904 w 8349195"/>
              <a:gd name="connsiteY7" fmla="*/ 0 h 955498"/>
              <a:gd name="connsiteX8" fmla="*/ 4763515 w 8349195"/>
              <a:gd name="connsiteY8" fmla="*/ 0 h 955498"/>
              <a:gd name="connsiteX9" fmla="*/ 5593353 w 8349195"/>
              <a:gd name="connsiteY9" fmla="*/ 0 h 955498"/>
              <a:gd name="connsiteX10" fmla="*/ 6021656 w 8349195"/>
              <a:gd name="connsiteY10" fmla="*/ 0 h 955498"/>
              <a:gd name="connsiteX11" fmla="*/ 6690880 w 8349195"/>
              <a:gd name="connsiteY11" fmla="*/ 0 h 955498"/>
              <a:gd name="connsiteX12" fmla="*/ 7360104 w 8349195"/>
              <a:gd name="connsiteY12" fmla="*/ 0 h 955498"/>
              <a:gd name="connsiteX13" fmla="*/ 8189942 w 8349195"/>
              <a:gd name="connsiteY13" fmla="*/ 0 h 955498"/>
              <a:gd name="connsiteX14" fmla="*/ 8349195 w 8349195"/>
              <a:gd name="connsiteY14" fmla="*/ 159253 h 955498"/>
              <a:gd name="connsiteX15" fmla="*/ 8349195 w 8349195"/>
              <a:gd name="connsiteY15" fmla="*/ 796245 h 955498"/>
              <a:gd name="connsiteX16" fmla="*/ 8189942 w 8349195"/>
              <a:gd name="connsiteY16" fmla="*/ 955498 h 955498"/>
              <a:gd name="connsiteX17" fmla="*/ 7440411 w 8349195"/>
              <a:gd name="connsiteY17" fmla="*/ 955498 h 955498"/>
              <a:gd name="connsiteX18" fmla="*/ 7012108 w 8349195"/>
              <a:gd name="connsiteY18" fmla="*/ 955498 h 955498"/>
              <a:gd name="connsiteX19" fmla="*/ 6503497 w 8349195"/>
              <a:gd name="connsiteY19" fmla="*/ 955498 h 955498"/>
              <a:gd name="connsiteX20" fmla="*/ 5673659 w 8349195"/>
              <a:gd name="connsiteY20" fmla="*/ 955498 h 955498"/>
              <a:gd name="connsiteX21" fmla="*/ 5004435 w 8349195"/>
              <a:gd name="connsiteY21" fmla="*/ 955498 h 955498"/>
              <a:gd name="connsiteX22" fmla="*/ 4495825 w 8349195"/>
              <a:gd name="connsiteY22" fmla="*/ 955498 h 955498"/>
              <a:gd name="connsiteX23" fmla="*/ 3826601 w 8349195"/>
              <a:gd name="connsiteY23" fmla="*/ 955498 h 955498"/>
              <a:gd name="connsiteX24" fmla="*/ 3398298 w 8349195"/>
              <a:gd name="connsiteY24" fmla="*/ 955498 h 955498"/>
              <a:gd name="connsiteX25" fmla="*/ 2969994 w 8349195"/>
              <a:gd name="connsiteY25" fmla="*/ 955498 h 955498"/>
              <a:gd name="connsiteX26" fmla="*/ 2300770 w 8349195"/>
              <a:gd name="connsiteY26" fmla="*/ 955498 h 955498"/>
              <a:gd name="connsiteX27" fmla="*/ 1792160 w 8349195"/>
              <a:gd name="connsiteY27" fmla="*/ 955498 h 955498"/>
              <a:gd name="connsiteX28" fmla="*/ 1042629 w 8349195"/>
              <a:gd name="connsiteY28" fmla="*/ 955498 h 955498"/>
              <a:gd name="connsiteX29" fmla="*/ 159253 w 8349195"/>
              <a:gd name="connsiteY29" fmla="*/ 955498 h 955498"/>
              <a:gd name="connsiteX30" fmla="*/ 0 w 8349195"/>
              <a:gd name="connsiteY30" fmla="*/ 796245 h 955498"/>
              <a:gd name="connsiteX31" fmla="*/ 0 w 8349195"/>
              <a:gd name="connsiteY31" fmla="*/ 159253 h 9554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8349195" h="955498" extrusionOk="0">
                <a:moveTo>
                  <a:pt x="0" y="159253"/>
                </a:moveTo>
                <a:cubicBezTo>
                  <a:pt x="-18257" y="60039"/>
                  <a:pt x="56281" y="5637"/>
                  <a:pt x="159253" y="0"/>
                </a:cubicBezTo>
                <a:cubicBezTo>
                  <a:pt x="453810" y="-29083"/>
                  <a:pt x="617856" y="6454"/>
                  <a:pt x="989091" y="0"/>
                </a:cubicBezTo>
                <a:cubicBezTo>
                  <a:pt x="1360326" y="-6454"/>
                  <a:pt x="1412709" y="28223"/>
                  <a:pt x="1578008" y="0"/>
                </a:cubicBezTo>
                <a:cubicBezTo>
                  <a:pt x="1743307" y="-28223"/>
                  <a:pt x="1841246" y="14124"/>
                  <a:pt x="2086618" y="0"/>
                </a:cubicBezTo>
                <a:cubicBezTo>
                  <a:pt x="2331990" y="-14124"/>
                  <a:pt x="2474881" y="19137"/>
                  <a:pt x="2836149" y="0"/>
                </a:cubicBezTo>
                <a:cubicBezTo>
                  <a:pt x="3197417" y="-19137"/>
                  <a:pt x="3157851" y="3359"/>
                  <a:pt x="3425067" y="0"/>
                </a:cubicBezTo>
                <a:cubicBezTo>
                  <a:pt x="3692283" y="-3359"/>
                  <a:pt x="3869679" y="-23614"/>
                  <a:pt x="4254904" y="0"/>
                </a:cubicBezTo>
                <a:cubicBezTo>
                  <a:pt x="4640129" y="23614"/>
                  <a:pt x="4556871" y="-17770"/>
                  <a:pt x="4763515" y="0"/>
                </a:cubicBezTo>
                <a:cubicBezTo>
                  <a:pt x="4970159" y="17770"/>
                  <a:pt x="5211060" y="5899"/>
                  <a:pt x="5593353" y="0"/>
                </a:cubicBezTo>
                <a:cubicBezTo>
                  <a:pt x="5975646" y="-5899"/>
                  <a:pt x="5836912" y="-11845"/>
                  <a:pt x="6021656" y="0"/>
                </a:cubicBezTo>
                <a:cubicBezTo>
                  <a:pt x="6206400" y="11845"/>
                  <a:pt x="6541688" y="-23384"/>
                  <a:pt x="6690880" y="0"/>
                </a:cubicBezTo>
                <a:cubicBezTo>
                  <a:pt x="6840072" y="23384"/>
                  <a:pt x="7150109" y="18687"/>
                  <a:pt x="7360104" y="0"/>
                </a:cubicBezTo>
                <a:cubicBezTo>
                  <a:pt x="7570099" y="-18687"/>
                  <a:pt x="7955909" y="7923"/>
                  <a:pt x="8189942" y="0"/>
                </a:cubicBezTo>
                <a:cubicBezTo>
                  <a:pt x="8290065" y="14908"/>
                  <a:pt x="8354905" y="66301"/>
                  <a:pt x="8349195" y="159253"/>
                </a:cubicBezTo>
                <a:cubicBezTo>
                  <a:pt x="8376650" y="468719"/>
                  <a:pt x="8333653" y="598679"/>
                  <a:pt x="8349195" y="796245"/>
                </a:cubicBezTo>
                <a:cubicBezTo>
                  <a:pt x="8338026" y="873675"/>
                  <a:pt x="8273494" y="948919"/>
                  <a:pt x="8189942" y="955498"/>
                </a:cubicBezTo>
                <a:cubicBezTo>
                  <a:pt x="7929835" y="975661"/>
                  <a:pt x="7676477" y="969306"/>
                  <a:pt x="7440411" y="955498"/>
                </a:cubicBezTo>
                <a:cubicBezTo>
                  <a:pt x="7204345" y="941690"/>
                  <a:pt x="7187054" y="948379"/>
                  <a:pt x="7012108" y="955498"/>
                </a:cubicBezTo>
                <a:cubicBezTo>
                  <a:pt x="6837162" y="962617"/>
                  <a:pt x="6696766" y="935460"/>
                  <a:pt x="6503497" y="955498"/>
                </a:cubicBezTo>
                <a:cubicBezTo>
                  <a:pt x="6310228" y="975536"/>
                  <a:pt x="6067147" y="952660"/>
                  <a:pt x="5673659" y="955498"/>
                </a:cubicBezTo>
                <a:cubicBezTo>
                  <a:pt x="5280171" y="958336"/>
                  <a:pt x="5261274" y="928038"/>
                  <a:pt x="5004435" y="955498"/>
                </a:cubicBezTo>
                <a:cubicBezTo>
                  <a:pt x="4747596" y="982958"/>
                  <a:pt x="4664489" y="940103"/>
                  <a:pt x="4495825" y="955498"/>
                </a:cubicBezTo>
                <a:cubicBezTo>
                  <a:pt x="4327161" y="970894"/>
                  <a:pt x="4059236" y="970200"/>
                  <a:pt x="3826601" y="955498"/>
                </a:cubicBezTo>
                <a:cubicBezTo>
                  <a:pt x="3593966" y="940796"/>
                  <a:pt x="3531511" y="949414"/>
                  <a:pt x="3398298" y="955498"/>
                </a:cubicBezTo>
                <a:cubicBezTo>
                  <a:pt x="3265085" y="961582"/>
                  <a:pt x="3145803" y="976103"/>
                  <a:pt x="2969994" y="955498"/>
                </a:cubicBezTo>
                <a:cubicBezTo>
                  <a:pt x="2794185" y="934893"/>
                  <a:pt x="2543267" y="983166"/>
                  <a:pt x="2300770" y="955498"/>
                </a:cubicBezTo>
                <a:cubicBezTo>
                  <a:pt x="2058273" y="927830"/>
                  <a:pt x="1926717" y="974040"/>
                  <a:pt x="1792160" y="955498"/>
                </a:cubicBezTo>
                <a:cubicBezTo>
                  <a:pt x="1657603" y="936957"/>
                  <a:pt x="1199107" y="981643"/>
                  <a:pt x="1042629" y="955498"/>
                </a:cubicBezTo>
                <a:cubicBezTo>
                  <a:pt x="886151" y="929353"/>
                  <a:pt x="483067" y="962820"/>
                  <a:pt x="159253" y="955498"/>
                </a:cubicBezTo>
                <a:cubicBezTo>
                  <a:pt x="69143" y="962224"/>
                  <a:pt x="-5879" y="865683"/>
                  <a:pt x="0" y="796245"/>
                </a:cubicBezTo>
                <a:cubicBezTo>
                  <a:pt x="-25505" y="502955"/>
                  <a:pt x="-5641" y="385326"/>
                  <a:pt x="0" y="159253"/>
                </a:cubicBezTo>
                <a:close/>
              </a:path>
            </a:pathLst>
          </a:custGeom>
          <a:noFill/>
          <a:ln>
            <a:solidFill>
              <a:schemeClr val="accent3">
                <a:lumMod val="25000"/>
              </a:schemeClr>
            </a:solidFill>
            <a:prstDash val="lgDash"/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80E63952-0D1A-4B42-9C06-166A364AAA3E}"/>
              </a:ext>
            </a:extLst>
          </p:cNvPr>
          <p:cNvSpPr/>
          <p:nvPr/>
        </p:nvSpPr>
        <p:spPr>
          <a:xfrm>
            <a:off x="3085027" y="4205193"/>
            <a:ext cx="8349195" cy="955498"/>
          </a:xfrm>
          <a:custGeom>
            <a:avLst/>
            <a:gdLst>
              <a:gd name="connsiteX0" fmla="*/ 0 w 8349195"/>
              <a:gd name="connsiteY0" fmla="*/ 159253 h 955498"/>
              <a:gd name="connsiteX1" fmla="*/ 159253 w 8349195"/>
              <a:gd name="connsiteY1" fmla="*/ 0 h 955498"/>
              <a:gd name="connsiteX2" fmla="*/ 587556 w 8349195"/>
              <a:gd name="connsiteY2" fmla="*/ 0 h 955498"/>
              <a:gd name="connsiteX3" fmla="*/ 1337087 w 8349195"/>
              <a:gd name="connsiteY3" fmla="*/ 0 h 955498"/>
              <a:gd name="connsiteX4" fmla="*/ 1926005 w 8349195"/>
              <a:gd name="connsiteY4" fmla="*/ 0 h 955498"/>
              <a:gd name="connsiteX5" fmla="*/ 2755842 w 8349195"/>
              <a:gd name="connsiteY5" fmla="*/ 0 h 955498"/>
              <a:gd name="connsiteX6" fmla="*/ 3505373 w 8349195"/>
              <a:gd name="connsiteY6" fmla="*/ 0 h 955498"/>
              <a:gd name="connsiteX7" fmla="*/ 4335211 w 8349195"/>
              <a:gd name="connsiteY7" fmla="*/ 0 h 955498"/>
              <a:gd name="connsiteX8" fmla="*/ 5004435 w 8349195"/>
              <a:gd name="connsiteY8" fmla="*/ 0 h 955498"/>
              <a:gd name="connsiteX9" fmla="*/ 5593353 w 8349195"/>
              <a:gd name="connsiteY9" fmla="*/ 0 h 955498"/>
              <a:gd name="connsiteX10" fmla="*/ 6342884 w 8349195"/>
              <a:gd name="connsiteY10" fmla="*/ 0 h 955498"/>
              <a:gd name="connsiteX11" fmla="*/ 6931801 w 8349195"/>
              <a:gd name="connsiteY11" fmla="*/ 0 h 955498"/>
              <a:gd name="connsiteX12" fmla="*/ 7360104 w 8349195"/>
              <a:gd name="connsiteY12" fmla="*/ 0 h 955498"/>
              <a:gd name="connsiteX13" fmla="*/ 8189942 w 8349195"/>
              <a:gd name="connsiteY13" fmla="*/ 0 h 955498"/>
              <a:gd name="connsiteX14" fmla="*/ 8349195 w 8349195"/>
              <a:gd name="connsiteY14" fmla="*/ 159253 h 955498"/>
              <a:gd name="connsiteX15" fmla="*/ 8349195 w 8349195"/>
              <a:gd name="connsiteY15" fmla="*/ 796245 h 955498"/>
              <a:gd name="connsiteX16" fmla="*/ 8189942 w 8349195"/>
              <a:gd name="connsiteY16" fmla="*/ 955498 h 955498"/>
              <a:gd name="connsiteX17" fmla="*/ 7360104 w 8349195"/>
              <a:gd name="connsiteY17" fmla="*/ 955498 h 955498"/>
              <a:gd name="connsiteX18" fmla="*/ 6690880 w 8349195"/>
              <a:gd name="connsiteY18" fmla="*/ 955498 h 955498"/>
              <a:gd name="connsiteX19" fmla="*/ 6182270 w 8349195"/>
              <a:gd name="connsiteY19" fmla="*/ 955498 h 955498"/>
              <a:gd name="connsiteX20" fmla="*/ 5753966 w 8349195"/>
              <a:gd name="connsiteY20" fmla="*/ 955498 h 955498"/>
              <a:gd name="connsiteX21" fmla="*/ 5004435 w 8349195"/>
              <a:gd name="connsiteY21" fmla="*/ 955498 h 955498"/>
              <a:gd name="connsiteX22" fmla="*/ 4174598 w 8349195"/>
              <a:gd name="connsiteY22" fmla="*/ 955498 h 955498"/>
              <a:gd name="connsiteX23" fmla="*/ 3425067 w 8349195"/>
              <a:gd name="connsiteY23" fmla="*/ 955498 h 955498"/>
              <a:gd name="connsiteX24" fmla="*/ 2996763 w 8349195"/>
              <a:gd name="connsiteY24" fmla="*/ 955498 h 955498"/>
              <a:gd name="connsiteX25" fmla="*/ 2247232 w 8349195"/>
              <a:gd name="connsiteY25" fmla="*/ 955498 h 955498"/>
              <a:gd name="connsiteX26" fmla="*/ 1578008 w 8349195"/>
              <a:gd name="connsiteY26" fmla="*/ 955498 h 955498"/>
              <a:gd name="connsiteX27" fmla="*/ 1069398 w 8349195"/>
              <a:gd name="connsiteY27" fmla="*/ 955498 h 955498"/>
              <a:gd name="connsiteX28" fmla="*/ 159253 w 8349195"/>
              <a:gd name="connsiteY28" fmla="*/ 955498 h 955498"/>
              <a:gd name="connsiteX29" fmla="*/ 0 w 8349195"/>
              <a:gd name="connsiteY29" fmla="*/ 796245 h 955498"/>
              <a:gd name="connsiteX30" fmla="*/ 0 w 8349195"/>
              <a:gd name="connsiteY30" fmla="*/ 159253 h 9554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8349195" h="955498" extrusionOk="0">
                <a:moveTo>
                  <a:pt x="0" y="159253"/>
                </a:moveTo>
                <a:cubicBezTo>
                  <a:pt x="6482" y="63977"/>
                  <a:pt x="74474" y="7702"/>
                  <a:pt x="159253" y="0"/>
                </a:cubicBezTo>
                <a:cubicBezTo>
                  <a:pt x="270171" y="-15970"/>
                  <a:pt x="417336" y="-20678"/>
                  <a:pt x="587556" y="0"/>
                </a:cubicBezTo>
                <a:cubicBezTo>
                  <a:pt x="757776" y="20678"/>
                  <a:pt x="1064425" y="2708"/>
                  <a:pt x="1337087" y="0"/>
                </a:cubicBezTo>
                <a:cubicBezTo>
                  <a:pt x="1609749" y="-2708"/>
                  <a:pt x="1772449" y="9281"/>
                  <a:pt x="1926005" y="0"/>
                </a:cubicBezTo>
                <a:cubicBezTo>
                  <a:pt x="2079561" y="-9281"/>
                  <a:pt x="2496031" y="-19562"/>
                  <a:pt x="2755842" y="0"/>
                </a:cubicBezTo>
                <a:cubicBezTo>
                  <a:pt x="3015653" y="19562"/>
                  <a:pt x="3247647" y="15952"/>
                  <a:pt x="3505373" y="0"/>
                </a:cubicBezTo>
                <a:cubicBezTo>
                  <a:pt x="3763099" y="-15952"/>
                  <a:pt x="4110427" y="36347"/>
                  <a:pt x="4335211" y="0"/>
                </a:cubicBezTo>
                <a:cubicBezTo>
                  <a:pt x="4559995" y="-36347"/>
                  <a:pt x="4773354" y="-28892"/>
                  <a:pt x="5004435" y="0"/>
                </a:cubicBezTo>
                <a:cubicBezTo>
                  <a:pt x="5235516" y="28892"/>
                  <a:pt x="5394759" y="-1127"/>
                  <a:pt x="5593353" y="0"/>
                </a:cubicBezTo>
                <a:cubicBezTo>
                  <a:pt x="5791947" y="1127"/>
                  <a:pt x="6144836" y="-31642"/>
                  <a:pt x="6342884" y="0"/>
                </a:cubicBezTo>
                <a:cubicBezTo>
                  <a:pt x="6540932" y="31642"/>
                  <a:pt x="6692216" y="-19709"/>
                  <a:pt x="6931801" y="0"/>
                </a:cubicBezTo>
                <a:cubicBezTo>
                  <a:pt x="7171386" y="19709"/>
                  <a:pt x="7148241" y="-17558"/>
                  <a:pt x="7360104" y="0"/>
                </a:cubicBezTo>
                <a:cubicBezTo>
                  <a:pt x="7571967" y="17558"/>
                  <a:pt x="8013635" y="33175"/>
                  <a:pt x="8189942" y="0"/>
                </a:cubicBezTo>
                <a:cubicBezTo>
                  <a:pt x="8256920" y="-3875"/>
                  <a:pt x="8333684" y="68603"/>
                  <a:pt x="8349195" y="159253"/>
                </a:cubicBezTo>
                <a:cubicBezTo>
                  <a:pt x="8335327" y="323755"/>
                  <a:pt x="8345154" y="558101"/>
                  <a:pt x="8349195" y="796245"/>
                </a:cubicBezTo>
                <a:cubicBezTo>
                  <a:pt x="8339333" y="898065"/>
                  <a:pt x="8273788" y="945249"/>
                  <a:pt x="8189942" y="955498"/>
                </a:cubicBezTo>
                <a:cubicBezTo>
                  <a:pt x="7862932" y="924290"/>
                  <a:pt x="7641338" y="973600"/>
                  <a:pt x="7360104" y="955498"/>
                </a:cubicBezTo>
                <a:cubicBezTo>
                  <a:pt x="7078870" y="937396"/>
                  <a:pt x="6972094" y="983343"/>
                  <a:pt x="6690880" y="955498"/>
                </a:cubicBezTo>
                <a:cubicBezTo>
                  <a:pt x="6409666" y="927653"/>
                  <a:pt x="6391426" y="980299"/>
                  <a:pt x="6182270" y="955498"/>
                </a:cubicBezTo>
                <a:cubicBezTo>
                  <a:pt x="5973114" y="930698"/>
                  <a:pt x="5896539" y="971260"/>
                  <a:pt x="5753966" y="955498"/>
                </a:cubicBezTo>
                <a:cubicBezTo>
                  <a:pt x="5611393" y="939736"/>
                  <a:pt x="5370543" y="958186"/>
                  <a:pt x="5004435" y="955498"/>
                </a:cubicBezTo>
                <a:cubicBezTo>
                  <a:pt x="4638327" y="952810"/>
                  <a:pt x="4449476" y="966894"/>
                  <a:pt x="4174598" y="955498"/>
                </a:cubicBezTo>
                <a:cubicBezTo>
                  <a:pt x="3899720" y="944102"/>
                  <a:pt x="3743835" y="947463"/>
                  <a:pt x="3425067" y="955498"/>
                </a:cubicBezTo>
                <a:cubicBezTo>
                  <a:pt x="3106299" y="963533"/>
                  <a:pt x="3206684" y="967287"/>
                  <a:pt x="2996763" y="955498"/>
                </a:cubicBezTo>
                <a:cubicBezTo>
                  <a:pt x="2786842" y="943709"/>
                  <a:pt x="2531460" y="932416"/>
                  <a:pt x="2247232" y="955498"/>
                </a:cubicBezTo>
                <a:cubicBezTo>
                  <a:pt x="1963004" y="978580"/>
                  <a:pt x="1767319" y="959431"/>
                  <a:pt x="1578008" y="955498"/>
                </a:cubicBezTo>
                <a:cubicBezTo>
                  <a:pt x="1388697" y="951565"/>
                  <a:pt x="1275751" y="975388"/>
                  <a:pt x="1069398" y="955498"/>
                </a:cubicBezTo>
                <a:cubicBezTo>
                  <a:pt x="863045" y="935609"/>
                  <a:pt x="514258" y="915435"/>
                  <a:pt x="159253" y="955498"/>
                </a:cubicBezTo>
                <a:cubicBezTo>
                  <a:pt x="70362" y="962158"/>
                  <a:pt x="14026" y="876173"/>
                  <a:pt x="0" y="796245"/>
                </a:cubicBezTo>
                <a:cubicBezTo>
                  <a:pt x="-5337" y="579427"/>
                  <a:pt x="-1484" y="302886"/>
                  <a:pt x="0" y="159253"/>
                </a:cubicBezTo>
                <a:close/>
              </a:path>
            </a:pathLst>
          </a:custGeom>
          <a:noFill/>
          <a:ln>
            <a:solidFill>
              <a:schemeClr val="accent3">
                <a:lumMod val="25000"/>
              </a:schemeClr>
            </a:solidFill>
            <a:prstDash val="lgDash"/>
            <a:miter lim="800000"/>
            <a:extLst>
              <a:ext uri="{C807C97D-BFC1-408E-A445-0C87EB9F89A2}">
                <ask:lineSketchStyleProps xmlns:ask="http://schemas.microsoft.com/office/drawing/2018/sketchyshapes" sd="3146230217">
                  <a:prstGeom prst="round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70C9F47B-3D19-480C-BEE9-25EC61019802}"/>
              </a:ext>
            </a:extLst>
          </p:cNvPr>
          <p:cNvSpPr/>
          <p:nvPr/>
        </p:nvSpPr>
        <p:spPr>
          <a:xfrm>
            <a:off x="3085028" y="544622"/>
            <a:ext cx="8349195" cy="955498"/>
          </a:xfrm>
          <a:custGeom>
            <a:avLst/>
            <a:gdLst>
              <a:gd name="connsiteX0" fmla="*/ 0 w 8349195"/>
              <a:gd name="connsiteY0" fmla="*/ 159253 h 955498"/>
              <a:gd name="connsiteX1" fmla="*/ 159253 w 8349195"/>
              <a:gd name="connsiteY1" fmla="*/ 0 h 955498"/>
              <a:gd name="connsiteX2" fmla="*/ 989091 w 8349195"/>
              <a:gd name="connsiteY2" fmla="*/ 0 h 955498"/>
              <a:gd name="connsiteX3" fmla="*/ 1738622 w 8349195"/>
              <a:gd name="connsiteY3" fmla="*/ 0 h 955498"/>
              <a:gd name="connsiteX4" fmla="*/ 2407846 w 8349195"/>
              <a:gd name="connsiteY4" fmla="*/ 0 h 955498"/>
              <a:gd name="connsiteX5" fmla="*/ 3077070 w 8349195"/>
              <a:gd name="connsiteY5" fmla="*/ 0 h 955498"/>
              <a:gd name="connsiteX6" fmla="*/ 3746294 w 8349195"/>
              <a:gd name="connsiteY6" fmla="*/ 0 h 955498"/>
              <a:gd name="connsiteX7" fmla="*/ 4576132 w 8349195"/>
              <a:gd name="connsiteY7" fmla="*/ 0 h 955498"/>
              <a:gd name="connsiteX8" fmla="*/ 5084742 w 8349195"/>
              <a:gd name="connsiteY8" fmla="*/ 0 h 955498"/>
              <a:gd name="connsiteX9" fmla="*/ 5673659 w 8349195"/>
              <a:gd name="connsiteY9" fmla="*/ 0 h 955498"/>
              <a:gd name="connsiteX10" fmla="*/ 6262577 w 8349195"/>
              <a:gd name="connsiteY10" fmla="*/ 0 h 955498"/>
              <a:gd name="connsiteX11" fmla="*/ 6690880 w 8349195"/>
              <a:gd name="connsiteY11" fmla="*/ 0 h 955498"/>
              <a:gd name="connsiteX12" fmla="*/ 7279797 w 8349195"/>
              <a:gd name="connsiteY12" fmla="*/ 0 h 955498"/>
              <a:gd name="connsiteX13" fmla="*/ 8189942 w 8349195"/>
              <a:gd name="connsiteY13" fmla="*/ 0 h 955498"/>
              <a:gd name="connsiteX14" fmla="*/ 8349195 w 8349195"/>
              <a:gd name="connsiteY14" fmla="*/ 159253 h 955498"/>
              <a:gd name="connsiteX15" fmla="*/ 8349195 w 8349195"/>
              <a:gd name="connsiteY15" fmla="*/ 796245 h 955498"/>
              <a:gd name="connsiteX16" fmla="*/ 8189942 w 8349195"/>
              <a:gd name="connsiteY16" fmla="*/ 955498 h 955498"/>
              <a:gd name="connsiteX17" fmla="*/ 7681332 w 8349195"/>
              <a:gd name="connsiteY17" fmla="*/ 955498 h 955498"/>
              <a:gd name="connsiteX18" fmla="*/ 7092415 w 8349195"/>
              <a:gd name="connsiteY18" fmla="*/ 955498 h 955498"/>
              <a:gd name="connsiteX19" fmla="*/ 6503497 w 8349195"/>
              <a:gd name="connsiteY19" fmla="*/ 955498 h 955498"/>
              <a:gd name="connsiteX20" fmla="*/ 5994887 w 8349195"/>
              <a:gd name="connsiteY20" fmla="*/ 955498 h 955498"/>
              <a:gd name="connsiteX21" fmla="*/ 5325663 w 8349195"/>
              <a:gd name="connsiteY21" fmla="*/ 955498 h 955498"/>
              <a:gd name="connsiteX22" fmla="*/ 4576132 w 8349195"/>
              <a:gd name="connsiteY22" fmla="*/ 955498 h 955498"/>
              <a:gd name="connsiteX23" fmla="*/ 3906908 w 8349195"/>
              <a:gd name="connsiteY23" fmla="*/ 955498 h 955498"/>
              <a:gd name="connsiteX24" fmla="*/ 3237684 w 8349195"/>
              <a:gd name="connsiteY24" fmla="*/ 955498 h 955498"/>
              <a:gd name="connsiteX25" fmla="*/ 2729073 w 8349195"/>
              <a:gd name="connsiteY25" fmla="*/ 955498 h 955498"/>
              <a:gd name="connsiteX26" fmla="*/ 1979543 w 8349195"/>
              <a:gd name="connsiteY26" fmla="*/ 955498 h 955498"/>
              <a:gd name="connsiteX27" fmla="*/ 1390625 w 8349195"/>
              <a:gd name="connsiteY27" fmla="*/ 955498 h 955498"/>
              <a:gd name="connsiteX28" fmla="*/ 159253 w 8349195"/>
              <a:gd name="connsiteY28" fmla="*/ 955498 h 955498"/>
              <a:gd name="connsiteX29" fmla="*/ 0 w 8349195"/>
              <a:gd name="connsiteY29" fmla="*/ 796245 h 955498"/>
              <a:gd name="connsiteX30" fmla="*/ 0 w 8349195"/>
              <a:gd name="connsiteY30" fmla="*/ 159253 h 9554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8349195" h="955498" extrusionOk="0">
                <a:moveTo>
                  <a:pt x="0" y="159253"/>
                </a:moveTo>
                <a:cubicBezTo>
                  <a:pt x="10239" y="58701"/>
                  <a:pt x="83741" y="16455"/>
                  <a:pt x="159253" y="0"/>
                </a:cubicBezTo>
                <a:cubicBezTo>
                  <a:pt x="505169" y="30242"/>
                  <a:pt x="743466" y="-6291"/>
                  <a:pt x="989091" y="0"/>
                </a:cubicBezTo>
                <a:cubicBezTo>
                  <a:pt x="1234716" y="6291"/>
                  <a:pt x="1384777" y="471"/>
                  <a:pt x="1738622" y="0"/>
                </a:cubicBezTo>
                <a:cubicBezTo>
                  <a:pt x="2092467" y="-471"/>
                  <a:pt x="2166273" y="-5550"/>
                  <a:pt x="2407846" y="0"/>
                </a:cubicBezTo>
                <a:cubicBezTo>
                  <a:pt x="2649419" y="5550"/>
                  <a:pt x="2747786" y="-25753"/>
                  <a:pt x="3077070" y="0"/>
                </a:cubicBezTo>
                <a:cubicBezTo>
                  <a:pt x="3406354" y="25753"/>
                  <a:pt x="3538897" y="26757"/>
                  <a:pt x="3746294" y="0"/>
                </a:cubicBezTo>
                <a:cubicBezTo>
                  <a:pt x="3953691" y="-26757"/>
                  <a:pt x="4293096" y="25172"/>
                  <a:pt x="4576132" y="0"/>
                </a:cubicBezTo>
                <a:cubicBezTo>
                  <a:pt x="4859168" y="-25172"/>
                  <a:pt x="4875291" y="9438"/>
                  <a:pt x="5084742" y="0"/>
                </a:cubicBezTo>
                <a:cubicBezTo>
                  <a:pt x="5294193" y="-9438"/>
                  <a:pt x="5450769" y="-23864"/>
                  <a:pt x="5673659" y="0"/>
                </a:cubicBezTo>
                <a:cubicBezTo>
                  <a:pt x="5896549" y="23864"/>
                  <a:pt x="5981916" y="724"/>
                  <a:pt x="6262577" y="0"/>
                </a:cubicBezTo>
                <a:cubicBezTo>
                  <a:pt x="6543238" y="-724"/>
                  <a:pt x="6589172" y="-2583"/>
                  <a:pt x="6690880" y="0"/>
                </a:cubicBezTo>
                <a:cubicBezTo>
                  <a:pt x="6792588" y="2583"/>
                  <a:pt x="7083274" y="11232"/>
                  <a:pt x="7279797" y="0"/>
                </a:cubicBezTo>
                <a:cubicBezTo>
                  <a:pt x="7476320" y="-11232"/>
                  <a:pt x="7751599" y="-38817"/>
                  <a:pt x="8189942" y="0"/>
                </a:cubicBezTo>
                <a:cubicBezTo>
                  <a:pt x="8270189" y="-16809"/>
                  <a:pt x="8363633" y="65685"/>
                  <a:pt x="8349195" y="159253"/>
                </a:cubicBezTo>
                <a:cubicBezTo>
                  <a:pt x="8327203" y="413772"/>
                  <a:pt x="8374758" y="661248"/>
                  <a:pt x="8349195" y="796245"/>
                </a:cubicBezTo>
                <a:cubicBezTo>
                  <a:pt x="8342712" y="865636"/>
                  <a:pt x="8282434" y="964759"/>
                  <a:pt x="8189942" y="955498"/>
                </a:cubicBezTo>
                <a:cubicBezTo>
                  <a:pt x="7944791" y="951147"/>
                  <a:pt x="7788715" y="934327"/>
                  <a:pt x="7681332" y="955498"/>
                </a:cubicBezTo>
                <a:cubicBezTo>
                  <a:pt x="7573949" y="976670"/>
                  <a:pt x="7320578" y="938727"/>
                  <a:pt x="7092415" y="955498"/>
                </a:cubicBezTo>
                <a:cubicBezTo>
                  <a:pt x="6864252" y="972269"/>
                  <a:pt x="6700383" y="944949"/>
                  <a:pt x="6503497" y="955498"/>
                </a:cubicBezTo>
                <a:cubicBezTo>
                  <a:pt x="6306611" y="966047"/>
                  <a:pt x="6132048" y="953194"/>
                  <a:pt x="5994887" y="955498"/>
                </a:cubicBezTo>
                <a:cubicBezTo>
                  <a:pt x="5857726" y="957803"/>
                  <a:pt x="5492313" y="981472"/>
                  <a:pt x="5325663" y="955498"/>
                </a:cubicBezTo>
                <a:cubicBezTo>
                  <a:pt x="5159013" y="929524"/>
                  <a:pt x="4839617" y="953416"/>
                  <a:pt x="4576132" y="955498"/>
                </a:cubicBezTo>
                <a:cubicBezTo>
                  <a:pt x="4312647" y="957580"/>
                  <a:pt x="4169064" y="923428"/>
                  <a:pt x="3906908" y="955498"/>
                </a:cubicBezTo>
                <a:cubicBezTo>
                  <a:pt x="3644752" y="987568"/>
                  <a:pt x="3501930" y="961530"/>
                  <a:pt x="3237684" y="955498"/>
                </a:cubicBezTo>
                <a:cubicBezTo>
                  <a:pt x="2973438" y="949466"/>
                  <a:pt x="2970493" y="975423"/>
                  <a:pt x="2729073" y="955498"/>
                </a:cubicBezTo>
                <a:cubicBezTo>
                  <a:pt x="2487653" y="935573"/>
                  <a:pt x="2278367" y="954942"/>
                  <a:pt x="1979543" y="955498"/>
                </a:cubicBezTo>
                <a:cubicBezTo>
                  <a:pt x="1680719" y="956055"/>
                  <a:pt x="1630796" y="945635"/>
                  <a:pt x="1390625" y="955498"/>
                </a:cubicBezTo>
                <a:cubicBezTo>
                  <a:pt x="1150454" y="965361"/>
                  <a:pt x="506412" y="922907"/>
                  <a:pt x="159253" y="955498"/>
                </a:cubicBezTo>
                <a:cubicBezTo>
                  <a:pt x="74112" y="942719"/>
                  <a:pt x="-9247" y="891858"/>
                  <a:pt x="0" y="796245"/>
                </a:cubicBezTo>
                <a:cubicBezTo>
                  <a:pt x="-22174" y="553375"/>
                  <a:pt x="-22163" y="368720"/>
                  <a:pt x="0" y="159253"/>
                </a:cubicBezTo>
                <a:close/>
              </a:path>
            </a:pathLst>
          </a:custGeom>
          <a:noFill/>
          <a:ln>
            <a:solidFill>
              <a:schemeClr val="accent3">
                <a:lumMod val="25000"/>
              </a:schemeClr>
            </a:solidFill>
            <a:prstDash val="lgDash"/>
            <a:miter lim="800000"/>
            <a:extLst>
              <a:ext uri="{C807C97D-BFC1-408E-A445-0C87EB9F89A2}">
                <ask:lineSketchStyleProps xmlns:ask="http://schemas.microsoft.com/office/drawing/2018/sketchyshapes" sd="2394174527">
                  <a:prstGeom prst="round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EAF21174-FD8B-4E87-923F-B47C4F85F2BF}"/>
              </a:ext>
            </a:extLst>
          </p:cNvPr>
          <p:cNvSpPr/>
          <p:nvPr/>
        </p:nvSpPr>
        <p:spPr>
          <a:xfrm>
            <a:off x="3085029" y="1734193"/>
            <a:ext cx="8349195" cy="955498"/>
          </a:xfrm>
          <a:custGeom>
            <a:avLst/>
            <a:gdLst>
              <a:gd name="connsiteX0" fmla="*/ 0 w 8349195"/>
              <a:gd name="connsiteY0" fmla="*/ 159253 h 955498"/>
              <a:gd name="connsiteX1" fmla="*/ 159253 w 8349195"/>
              <a:gd name="connsiteY1" fmla="*/ 0 h 955498"/>
              <a:gd name="connsiteX2" fmla="*/ 908784 w 8349195"/>
              <a:gd name="connsiteY2" fmla="*/ 0 h 955498"/>
              <a:gd name="connsiteX3" fmla="*/ 1417394 w 8349195"/>
              <a:gd name="connsiteY3" fmla="*/ 0 h 955498"/>
              <a:gd name="connsiteX4" fmla="*/ 1845698 w 8349195"/>
              <a:gd name="connsiteY4" fmla="*/ 0 h 955498"/>
              <a:gd name="connsiteX5" fmla="*/ 2434615 w 8349195"/>
              <a:gd name="connsiteY5" fmla="*/ 0 h 955498"/>
              <a:gd name="connsiteX6" fmla="*/ 3264453 w 8349195"/>
              <a:gd name="connsiteY6" fmla="*/ 0 h 955498"/>
              <a:gd name="connsiteX7" fmla="*/ 3692756 w 8349195"/>
              <a:gd name="connsiteY7" fmla="*/ 0 h 955498"/>
              <a:gd name="connsiteX8" fmla="*/ 4201366 w 8349195"/>
              <a:gd name="connsiteY8" fmla="*/ 0 h 955498"/>
              <a:gd name="connsiteX9" fmla="*/ 4790284 w 8349195"/>
              <a:gd name="connsiteY9" fmla="*/ 0 h 955498"/>
              <a:gd name="connsiteX10" fmla="*/ 5620122 w 8349195"/>
              <a:gd name="connsiteY10" fmla="*/ 0 h 955498"/>
              <a:gd name="connsiteX11" fmla="*/ 6128732 w 8349195"/>
              <a:gd name="connsiteY11" fmla="*/ 0 h 955498"/>
              <a:gd name="connsiteX12" fmla="*/ 6878263 w 8349195"/>
              <a:gd name="connsiteY12" fmla="*/ 0 h 955498"/>
              <a:gd name="connsiteX13" fmla="*/ 8189942 w 8349195"/>
              <a:gd name="connsiteY13" fmla="*/ 0 h 955498"/>
              <a:gd name="connsiteX14" fmla="*/ 8349195 w 8349195"/>
              <a:gd name="connsiteY14" fmla="*/ 159253 h 955498"/>
              <a:gd name="connsiteX15" fmla="*/ 8349195 w 8349195"/>
              <a:gd name="connsiteY15" fmla="*/ 796245 h 955498"/>
              <a:gd name="connsiteX16" fmla="*/ 8189942 w 8349195"/>
              <a:gd name="connsiteY16" fmla="*/ 955498 h 955498"/>
              <a:gd name="connsiteX17" fmla="*/ 7360104 w 8349195"/>
              <a:gd name="connsiteY17" fmla="*/ 955498 h 955498"/>
              <a:gd name="connsiteX18" fmla="*/ 6851494 w 8349195"/>
              <a:gd name="connsiteY18" fmla="*/ 955498 h 955498"/>
              <a:gd name="connsiteX19" fmla="*/ 6182270 w 8349195"/>
              <a:gd name="connsiteY19" fmla="*/ 955498 h 955498"/>
              <a:gd name="connsiteX20" fmla="*/ 5753966 w 8349195"/>
              <a:gd name="connsiteY20" fmla="*/ 955498 h 955498"/>
              <a:gd name="connsiteX21" fmla="*/ 4924128 w 8349195"/>
              <a:gd name="connsiteY21" fmla="*/ 955498 h 955498"/>
              <a:gd name="connsiteX22" fmla="*/ 4495825 w 8349195"/>
              <a:gd name="connsiteY22" fmla="*/ 955498 h 955498"/>
              <a:gd name="connsiteX23" fmla="*/ 3665987 w 8349195"/>
              <a:gd name="connsiteY23" fmla="*/ 955498 h 955498"/>
              <a:gd name="connsiteX24" fmla="*/ 3157377 w 8349195"/>
              <a:gd name="connsiteY24" fmla="*/ 955498 h 955498"/>
              <a:gd name="connsiteX25" fmla="*/ 2407846 w 8349195"/>
              <a:gd name="connsiteY25" fmla="*/ 955498 h 955498"/>
              <a:gd name="connsiteX26" fmla="*/ 1899236 w 8349195"/>
              <a:gd name="connsiteY26" fmla="*/ 955498 h 955498"/>
              <a:gd name="connsiteX27" fmla="*/ 1230012 w 8349195"/>
              <a:gd name="connsiteY27" fmla="*/ 955498 h 955498"/>
              <a:gd name="connsiteX28" fmla="*/ 159253 w 8349195"/>
              <a:gd name="connsiteY28" fmla="*/ 955498 h 955498"/>
              <a:gd name="connsiteX29" fmla="*/ 0 w 8349195"/>
              <a:gd name="connsiteY29" fmla="*/ 796245 h 955498"/>
              <a:gd name="connsiteX30" fmla="*/ 0 w 8349195"/>
              <a:gd name="connsiteY30" fmla="*/ 159253 h 9554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8349195" h="955498" extrusionOk="0">
                <a:moveTo>
                  <a:pt x="0" y="159253"/>
                </a:moveTo>
                <a:cubicBezTo>
                  <a:pt x="7085" y="74597"/>
                  <a:pt x="55611" y="-3992"/>
                  <a:pt x="159253" y="0"/>
                </a:cubicBezTo>
                <a:cubicBezTo>
                  <a:pt x="392383" y="9101"/>
                  <a:pt x="616453" y="4679"/>
                  <a:pt x="908784" y="0"/>
                </a:cubicBezTo>
                <a:cubicBezTo>
                  <a:pt x="1201115" y="-4679"/>
                  <a:pt x="1303443" y="-10973"/>
                  <a:pt x="1417394" y="0"/>
                </a:cubicBezTo>
                <a:cubicBezTo>
                  <a:pt x="1531345" y="10973"/>
                  <a:pt x="1685051" y="8620"/>
                  <a:pt x="1845698" y="0"/>
                </a:cubicBezTo>
                <a:cubicBezTo>
                  <a:pt x="2006345" y="-8620"/>
                  <a:pt x="2268540" y="12687"/>
                  <a:pt x="2434615" y="0"/>
                </a:cubicBezTo>
                <a:cubicBezTo>
                  <a:pt x="2600690" y="-12687"/>
                  <a:pt x="3030115" y="4748"/>
                  <a:pt x="3264453" y="0"/>
                </a:cubicBezTo>
                <a:cubicBezTo>
                  <a:pt x="3498791" y="-4748"/>
                  <a:pt x="3485553" y="-4219"/>
                  <a:pt x="3692756" y="0"/>
                </a:cubicBezTo>
                <a:cubicBezTo>
                  <a:pt x="3899959" y="4219"/>
                  <a:pt x="3948625" y="9034"/>
                  <a:pt x="4201366" y="0"/>
                </a:cubicBezTo>
                <a:cubicBezTo>
                  <a:pt x="4454107" y="-9034"/>
                  <a:pt x="4642702" y="-7231"/>
                  <a:pt x="4790284" y="0"/>
                </a:cubicBezTo>
                <a:cubicBezTo>
                  <a:pt x="4937866" y="7231"/>
                  <a:pt x="5252659" y="-15084"/>
                  <a:pt x="5620122" y="0"/>
                </a:cubicBezTo>
                <a:cubicBezTo>
                  <a:pt x="5987585" y="15084"/>
                  <a:pt x="6022905" y="-18040"/>
                  <a:pt x="6128732" y="0"/>
                </a:cubicBezTo>
                <a:cubicBezTo>
                  <a:pt x="6234559" y="18040"/>
                  <a:pt x="6524246" y="26796"/>
                  <a:pt x="6878263" y="0"/>
                </a:cubicBezTo>
                <a:cubicBezTo>
                  <a:pt x="7232280" y="-26796"/>
                  <a:pt x="7600511" y="18761"/>
                  <a:pt x="8189942" y="0"/>
                </a:cubicBezTo>
                <a:cubicBezTo>
                  <a:pt x="8264360" y="10397"/>
                  <a:pt x="8349116" y="88454"/>
                  <a:pt x="8349195" y="159253"/>
                </a:cubicBezTo>
                <a:cubicBezTo>
                  <a:pt x="8332584" y="447050"/>
                  <a:pt x="8320035" y="565396"/>
                  <a:pt x="8349195" y="796245"/>
                </a:cubicBezTo>
                <a:cubicBezTo>
                  <a:pt x="8353406" y="889892"/>
                  <a:pt x="8280931" y="941631"/>
                  <a:pt x="8189942" y="955498"/>
                </a:cubicBezTo>
                <a:cubicBezTo>
                  <a:pt x="7845199" y="919256"/>
                  <a:pt x="7586569" y="970506"/>
                  <a:pt x="7360104" y="955498"/>
                </a:cubicBezTo>
                <a:cubicBezTo>
                  <a:pt x="7133639" y="940490"/>
                  <a:pt x="6987470" y="968968"/>
                  <a:pt x="6851494" y="955498"/>
                </a:cubicBezTo>
                <a:cubicBezTo>
                  <a:pt x="6715518" y="942029"/>
                  <a:pt x="6501652" y="957692"/>
                  <a:pt x="6182270" y="955498"/>
                </a:cubicBezTo>
                <a:cubicBezTo>
                  <a:pt x="5862888" y="953304"/>
                  <a:pt x="5845513" y="975366"/>
                  <a:pt x="5753966" y="955498"/>
                </a:cubicBezTo>
                <a:cubicBezTo>
                  <a:pt x="5662419" y="935630"/>
                  <a:pt x="5107507" y="987151"/>
                  <a:pt x="4924128" y="955498"/>
                </a:cubicBezTo>
                <a:cubicBezTo>
                  <a:pt x="4740749" y="923845"/>
                  <a:pt x="4613081" y="969866"/>
                  <a:pt x="4495825" y="955498"/>
                </a:cubicBezTo>
                <a:cubicBezTo>
                  <a:pt x="4378569" y="941130"/>
                  <a:pt x="3851418" y="935291"/>
                  <a:pt x="3665987" y="955498"/>
                </a:cubicBezTo>
                <a:cubicBezTo>
                  <a:pt x="3480556" y="975705"/>
                  <a:pt x="3281109" y="973509"/>
                  <a:pt x="3157377" y="955498"/>
                </a:cubicBezTo>
                <a:cubicBezTo>
                  <a:pt x="3033645" y="937488"/>
                  <a:pt x="2710354" y="979608"/>
                  <a:pt x="2407846" y="955498"/>
                </a:cubicBezTo>
                <a:cubicBezTo>
                  <a:pt x="2105338" y="931388"/>
                  <a:pt x="2050987" y="948938"/>
                  <a:pt x="1899236" y="955498"/>
                </a:cubicBezTo>
                <a:cubicBezTo>
                  <a:pt x="1747485" y="962059"/>
                  <a:pt x="1541392" y="972335"/>
                  <a:pt x="1230012" y="955498"/>
                </a:cubicBezTo>
                <a:cubicBezTo>
                  <a:pt x="918632" y="938661"/>
                  <a:pt x="688252" y="929325"/>
                  <a:pt x="159253" y="955498"/>
                </a:cubicBezTo>
                <a:cubicBezTo>
                  <a:pt x="67392" y="943023"/>
                  <a:pt x="-8125" y="892615"/>
                  <a:pt x="0" y="796245"/>
                </a:cubicBezTo>
                <a:cubicBezTo>
                  <a:pt x="17631" y="520005"/>
                  <a:pt x="-8464" y="349792"/>
                  <a:pt x="0" y="159253"/>
                </a:cubicBezTo>
                <a:close/>
              </a:path>
            </a:pathLst>
          </a:custGeom>
          <a:noFill/>
          <a:ln>
            <a:solidFill>
              <a:schemeClr val="accent3">
                <a:lumMod val="25000"/>
              </a:schemeClr>
            </a:solidFill>
            <a:prstDash val="lgDash"/>
            <a:miter lim="800000"/>
            <a:extLst>
              <a:ext uri="{C807C97D-BFC1-408E-A445-0C87EB9F89A2}">
                <ask:lineSketchStyleProps xmlns:ask="http://schemas.microsoft.com/office/drawing/2018/sketchyshapes" sd="696860290">
                  <a:prstGeom prst="round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4C27C8-165C-5513-DB4B-9D840097C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891" y="1185139"/>
            <a:ext cx="2326858" cy="834820"/>
          </a:xfrm>
          <a:noFill/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Modules</a:t>
            </a:r>
          </a:p>
        </p:txBody>
      </p:sp>
      <p:sp>
        <p:nvSpPr>
          <p:cNvPr id="46" name="Google Shape;191;p18">
            <a:extLst>
              <a:ext uri="{FF2B5EF4-FFF2-40B4-BE49-F238E27FC236}">
                <a16:creationId xmlns:a16="http://schemas.microsoft.com/office/drawing/2014/main" id="{BC014DC9-114F-499E-BC7A-23BC76A0A292}"/>
              </a:ext>
            </a:extLst>
          </p:cNvPr>
          <p:cNvSpPr txBox="1"/>
          <p:nvPr/>
        </p:nvSpPr>
        <p:spPr>
          <a:xfrm>
            <a:off x="5300816" y="614404"/>
            <a:ext cx="6078713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Provides secure, role-based access for Admins, Cashiers, and Kitchen Staff, redirecting them to specific dashboards.</a:t>
            </a:r>
            <a:endParaRPr lang="en-US" sz="1000" dirty="0">
              <a:solidFill>
                <a:schemeClr val="accent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Google Shape;192;p18">
            <a:extLst>
              <a:ext uri="{FF2B5EF4-FFF2-40B4-BE49-F238E27FC236}">
                <a16:creationId xmlns:a16="http://schemas.microsoft.com/office/drawing/2014/main" id="{792FC828-8B00-46CD-BB58-70269DD36295}"/>
              </a:ext>
            </a:extLst>
          </p:cNvPr>
          <p:cNvSpPr txBox="1"/>
          <p:nvPr/>
        </p:nvSpPr>
        <p:spPr>
          <a:xfrm>
            <a:off x="5332543" y="1780122"/>
            <a:ext cx="6046986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Allows Admins to manage the live catalog, set daily stock limits, and instantly update the Customer QR menu.</a:t>
            </a:r>
            <a:endParaRPr sz="1000" dirty="0">
              <a:solidFill>
                <a:schemeClr val="accent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Google Shape;193;p18">
            <a:extLst>
              <a:ext uri="{FF2B5EF4-FFF2-40B4-BE49-F238E27FC236}">
                <a16:creationId xmlns:a16="http://schemas.microsoft.com/office/drawing/2014/main" id="{614A49B0-0F01-4A84-9E74-9B8E2B9AC3FF}"/>
              </a:ext>
            </a:extLst>
          </p:cNvPr>
          <p:cNvSpPr txBox="1"/>
          <p:nvPr/>
        </p:nvSpPr>
        <p:spPr>
          <a:xfrm>
            <a:off x="3253415" y="711055"/>
            <a:ext cx="1952122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b="1" dirty="0">
                <a:solidFill>
                  <a:schemeClr val="accent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 Registration &amp; Login</a:t>
            </a:r>
            <a:endParaRPr sz="700" b="1" dirty="0">
              <a:solidFill>
                <a:schemeClr val="accent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Google Shape;194;p18">
            <a:extLst>
              <a:ext uri="{FF2B5EF4-FFF2-40B4-BE49-F238E27FC236}">
                <a16:creationId xmlns:a16="http://schemas.microsoft.com/office/drawing/2014/main" id="{95C7E383-332C-4535-96BC-ED170DE9DEB7}"/>
              </a:ext>
            </a:extLst>
          </p:cNvPr>
          <p:cNvSpPr txBox="1"/>
          <p:nvPr/>
        </p:nvSpPr>
        <p:spPr>
          <a:xfrm>
            <a:off x="3253415" y="1933200"/>
            <a:ext cx="1952122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b="1" dirty="0">
                <a:solidFill>
                  <a:schemeClr val="accent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Menu &amp; Inventory Control</a:t>
            </a:r>
            <a:endParaRPr sz="800" b="1" dirty="0">
              <a:solidFill>
                <a:schemeClr val="accent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Google Shape;196;p18">
            <a:extLst>
              <a:ext uri="{FF2B5EF4-FFF2-40B4-BE49-F238E27FC236}">
                <a16:creationId xmlns:a16="http://schemas.microsoft.com/office/drawing/2014/main" id="{1B8E05ED-1BDC-456B-9323-A2B8C3EE5857}"/>
              </a:ext>
            </a:extLst>
          </p:cNvPr>
          <p:cNvSpPr txBox="1"/>
          <p:nvPr/>
        </p:nvSpPr>
        <p:spPr>
          <a:xfrm>
            <a:off x="3253415" y="3170443"/>
            <a:ext cx="1841591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b="1" dirty="0">
                <a:solidFill>
                  <a:schemeClr val="accent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Table &amp; Session Operations</a:t>
            </a:r>
            <a:endParaRPr b="1" dirty="0">
              <a:solidFill>
                <a:schemeClr val="accent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Google Shape;197;p18">
            <a:extLst>
              <a:ext uri="{FF2B5EF4-FFF2-40B4-BE49-F238E27FC236}">
                <a16:creationId xmlns:a16="http://schemas.microsoft.com/office/drawing/2014/main" id="{8D6DD627-D30C-42F7-96F3-F22CCB27001E}"/>
              </a:ext>
            </a:extLst>
          </p:cNvPr>
          <p:cNvSpPr txBox="1"/>
          <p:nvPr/>
        </p:nvSpPr>
        <p:spPr>
          <a:xfrm>
            <a:off x="5312299" y="4267442"/>
            <a:ext cx="6046987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Synchronizes continuous customer orders directly to the Kitchen Display System while validating real-time inventory. </a:t>
            </a:r>
            <a:endParaRPr sz="1000" dirty="0">
              <a:solidFill>
                <a:schemeClr val="accent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Google Shape;198;p18">
            <a:extLst>
              <a:ext uri="{FF2B5EF4-FFF2-40B4-BE49-F238E27FC236}">
                <a16:creationId xmlns:a16="http://schemas.microsoft.com/office/drawing/2014/main" id="{8F96C2AA-C3B1-407F-A942-475BA0900C02}"/>
              </a:ext>
            </a:extLst>
          </p:cNvPr>
          <p:cNvSpPr txBox="1"/>
          <p:nvPr/>
        </p:nvSpPr>
        <p:spPr>
          <a:xfrm>
            <a:off x="3222601" y="4544442"/>
            <a:ext cx="195212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b="1" dirty="0">
                <a:solidFill>
                  <a:schemeClr val="accent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Order Processing</a:t>
            </a:r>
            <a:endParaRPr b="1" dirty="0">
              <a:solidFill>
                <a:schemeClr val="accent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77998870-7C96-418E-BA1C-2580AFFFCD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9188" y="3014889"/>
            <a:ext cx="6140341" cy="8258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chemeClr val="accent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Manages QR-activated customer sessions, tracking live table availability and preventing cross-table billing errors.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accent2">
                  <a:lumMod val="25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3" name="Rectangle: Rounded Corners 72">
            <a:extLst>
              <a:ext uri="{FF2B5EF4-FFF2-40B4-BE49-F238E27FC236}">
                <a16:creationId xmlns:a16="http://schemas.microsoft.com/office/drawing/2014/main" id="{54FF0B4E-E454-4FF3-84EC-7FB555AE4C8C}"/>
              </a:ext>
            </a:extLst>
          </p:cNvPr>
          <p:cNvSpPr/>
          <p:nvPr/>
        </p:nvSpPr>
        <p:spPr>
          <a:xfrm>
            <a:off x="3085027" y="5435297"/>
            <a:ext cx="8349195" cy="955498"/>
          </a:xfrm>
          <a:custGeom>
            <a:avLst/>
            <a:gdLst>
              <a:gd name="connsiteX0" fmla="*/ 0 w 8349195"/>
              <a:gd name="connsiteY0" fmla="*/ 159253 h 955498"/>
              <a:gd name="connsiteX1" fmla="*/ 159253 w 8349195"/>
              <a:gd name="connsiteY1" fmla="*/ 0 h 955498"/>
              <a:gd name="connsiteX2" fmla="*/ 989091 w 8349195"/>
              <a:gd name="connsiteY2" fmla="*/ 0 h 955498"/>
              <a:gd name="connsiteX3" fmla="*/ 1738622 w 8349195"/>
              <a:gd name="connsiteY3" fmla="*/ 0 h 955498"/>
              <a:gd name="connsiteX4" fmla="*/ 2407846 w 8349195"/>
              <a:gd name="connsiteY4" fmla="*/ 0 h 955498"/>
              <a:gd name="connsiteX5" fmla="*/ 3077070 w 8349195"/>
              <a:gd name="connsiteY5" fmla="*/ 0 h 955498"/>
              <a:gd name="connsiteX6" fmla="*/ 3746294 w 8349195"/>
              <a:gd name="connsiteY6" fmla="*/ 0 h 955498"/>
              <a:gd name="connsiteX7" fmla="*/ 4576132 w 8349195"/>
              <a:gd name="connsiteY7" fmla="*/ 0 h 955498"/>
              <a:gd name="connsiteX8" fmla="*/ 5084742 w 8349195"/>
              <a:gd name="connsiteY8" fmla="*/ 0 h 955498"/>
              <a:gd name="connsiteX9" fmla="*/ 5673659 w 8349195"/>
              <a:gd name="connsiteY9" fmla="*/ 0 h 955498"/>
              <a:gd name="connsiteX10" fmla="*/ 6262577 w 8349195"/>
              <a:gd name="connsiteY10" fmla="*/ 0 h 955498"/>
              <a:gd name="connsiteX11" fmla="*/ 6690880 w 8349195"/>
              <a:gd name="connsiteY11" fmla="*/ 0 h 955498"/>
              <a:gd name="connsiteX12" fmla="*/ 7279797 w 8349195"/>
              <a:gd name="connsiteY12" fmla="*/ 0 h 955498"/>
              <a:gd name="connsiteX13" fmla="*/ 8189942 w 8349195"/>
              <a:gd name="connsiteY13" fmla="*/ 0 h 955498"/>
              <a:gd name="connsiteX14" fmla="*/ 8349195 w 8349195"/>
              <a:gd name="connsiteY14" fmla="*/ 159253 h 955498"/>
              <a:gd name="connsiteX15" fmla="*/ 8349195 w 8349195"/>
              <a:gd name="connsiteY15" fmla="*/ 796245 h 955498"/>
              <a:gd name="connsiteX16" fmla="*/ 8189942 w 8349195"/>
              <a:gd name="connsiteY16" fmla="*/ 955498 h 955498"/>
              <a:gd name="connsiteX17" fmla="*/ 7681332 w 8349195"/>
              <a:gd name="connsiteY17" fmla="*/ 955498 h 955498"/>
              <a:gd name="connsiteX18" fmla="*/ 7092415 w 8349195"/>
              <a:gd name="connsiteY18" fmla="*/ 955498 h 955498"/>
              <a:gd name="connsiteX19" fmla="*/ 6503497 w 8349195"/>
              <a:gd name="connsiteY19" fmla="*/ 955498 h 955498"/>
              <a:gd name="connsiteX20" fmla="*/ 5994887 w 8349195"/>
              <a:gd name="connsiteY20" fmla="*/ 955498 h 955498"/>
              <a:gd name="connsiteX21" fmla="*/ 5325663 w 8349195"/>
              <a:gd name="connsiteY21" fmla="*/ 955498 h 955498"/>
              <a:gd name="connsiteX22" fmla="*/ 4576132 w 8349195"/>
              <a:gd name="connsiteY22" fmla="*/ 955498 h 955498"/>
              <a:gd name="connsiteX23" fmla="*/ 3906908 w 8349195"/>
              <a:gd name="connsiteY23" fmla="*/ 955498 h 955498"/>
              <a:gd name="connsiteX24" fmla="*/ 3237684 w 8349195"/>
              <a:gd name="connsiteY24" fmla="*/ 955498 h 955498"/>
              <a:gd name="connsiteX25" fmla="*/ 2729073 w 8349195"/>
              <a:gd name="connsiteY25" fmla="*/ 955498 h 955498"/>
              <a:gd name="connsiteX26" fmla="*/ 1979543 w 8349195"/>
              <a:gd name="connsiteY26" fmla="*/ 955498 h 955498"/>
              <a:gd name="connsiteX27" fmla="*/ 1390625 w 8349195"/>
              <a:gd name="connsiteY27" fmla="*/ 955498 h 955498"/>
              <a:gd name="connsiteX28" fmla="*/ 159253 w 8349195"/>
              <a:gd name="connsiteY28" fmla="*/ 955498 h 955498"/>
              <a:gd name="connsiteX29" fmla="*/ 0 w 8349195"/>
              <a:gd name="connsiteY29" fmla="*/ 796245 h 955498"/>
              <a:gd name="connsiteX30" fmla="*/ 0 w 8349195"/>
              <a:gd name="connsiteY30" fmla="*/ 159253 h 9554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8349195" h="955498" extrusionOk="0">
                <a:moveTo>
                  <a:pt x="0" y="159253"/>
                </a:moveTo>
                <a:cubicBezTo>
                  <a:pt x="10239" y="58701"/>
                  <a:pt x="83741" y="16455"/>
                  <a:pt x="159253" y="0"/>
                </a:cubicBezTo>
                <a:cubicBezTo>
                  <a:pt x="505169" y="30242"/>
                  <a:pt x="743466" y="-6291"/>
                  <a:pt x="989091" y="0"/>
                </a:cubicBezTo>
                <a:cubicBezTo>
                  <a:pt x="1234716" y="6291"/>
                  <a:pt x="1384777" y="471"/>
                  <a:pt x="1738622" y="0"/>
                </a:cubicBezTo>
                <a:cubicBezTo>
                  <a:pt x="2092467" y="-471"/>
                  <a:pt x="2166273" y="-5550"/>
                  <a:pt x="2407846" y="0"/>
                </a:cubicBezTo>
                <a:cubicBezTo>
                  <a:pt x="2649419" y="5550"/>
                  <a:pt x="2747786" y="-25753"/>
                  <a:pt x="3077070" y="0"/>
                </a:cubicBezTo>
                <a:cubicBezTo>
                  <a:pt x="3406354" y="25753"/>
                  <a:pt x="3538897" y="26757"/>
                  <a:pt x="3746294" y="0"/>
                </a:cubicBezTo>
                <a:cubicBezTo>
                  <a:pt x="3953691" y="-26757"/>
                  <a:pt x="4293096" y="25172"/>
                  <a:pt x="4576132" y="0"/>
                </a:cubicBezTo>
                <a:cubicBezTo>
                  <a:pt x="4859168" y="-25172"/>
                  <a:pt x="4875291" y="9438"/>
                  <a:pt x="5084742" y="0"/>
                </a:cubicBezTo>
                <a:cubicBezTo>
                  <a:pt x="5294193" y="-9438"/>
                  <a:pt x="5450769" y="-23864"/>
                  <a:pt x="5673659" y="0"/>
                </a:cubicBezTo>
                <a:cubicBezTo>
                  <a:pt x="5896549" y="23864"/>
                  <a:pt x="5981916" y="724"/>
                  <a:pt x="6262577" y="0"/>
                </a:cubicBezTo>
                <a:cubicBezTo>
                  <a:pt x="6543238" y="-724"/>
                  <a:pt x="6589172" y="-2583"/>
                  <a:pt x="6690880" y="0"/>
                </a:cubicBezTo>
                <a:cubicBezTo>
                  <a:pt x="6792588" y="2583"/>
                  <a:pt x="7083274" y="11232"/>
                  <a:pt x="7279797" y="0"/>
                </a:cubicBezTo>
                <a:cubicBezTo>
                  <a:pt x="7476320" y="-11232"/>
                  <a:pt x="7751599" y="-38817"/>
                  <a:pt x="8189942" y="0"/>
                </a:cubicBezTo>
                <a:cubicBezTo>
                  <a:pt x="8270189" y="-16809"/>
                  <a:pt x="8363633" y="65685"/>
                  <a:pt x="8349195" y="159253"/>
                </a:cubicBezTo>
                <a:cubicBezTo>
                  <a:pt x="8327203" y="413772"/>
                  <a:pt x="8374758" y="661248"/>
                  <a:pt x="8349195" y="796245"/>
                </a:cubicBezTo>
                <a:cubicBezTo>
                  <a:pt x="8342712" y="865636"/>
                  <a:pt x="8282434" y="964759"/>
                  <a:pt x="8189942" y="955498"/>
                </a:cubicBezTo>
                <a:cubicBezTo>
                  <a:pt x="7944791" y="951147"/>
                  <a:pt x="7788715" y="934327"/>
                  <a:pt x="7681332" y="955498"/>
                </a:cubicBezTo>
                <a:cubicBezTo>
                  <a:pt x="7573949" y="976670"/>
                  <a:pt x="7320578" y="938727"/>
                  <a:pt x="7092415" y="955498"/>
                </a:cubicBezTo>
                <a:cubicBezTo>
                  <a:pt x="6864252" y="972269"/>
                  <a:pt x="6700383" y="944949"/>
                  <a:pt x="6503497" y="955498"/>
                </a:cubicBezTo>
                <a:cubicBezTo>
                  <a:pt x="6306611" y="966047"/>
                  <a:pt x="6132048" y="953194"/>
                  <a:pt x="5994887" y="955498"/>
                </a:cubicBezTo>
                <a:cubicBezTo>
                  <a:pt x="5857726" y="957803"/>
                  <a:pt x="5492313" y="981472"/>
                  <a:pt x="5325663" y="955498"/>
                </a:cubicBezTo>
                <a:cubicBezTo>
                  <a:pt x="5159013" y="929524"/>
                  <a:pt x="4839617" y="953416"/>
                  <a:pt x="4576132" y="955498"/>
                </a:cubicBezTo>
                <a:cubicBezTo>
                  <a:pt x="4312647" y="957580"/>
                  <a:pt x="4169064" y="923428"/>
                  <a:pt x="3906908" y="955498"/>
                </a:cubicBezTo>
                <a:cubicBezTo>
                  <a:pt x="3644752" y="987568"/>
                  <a:pt x="3501930" y="961530"/>
                  <a:pt x="3237684" y="955498"/>
                </a:cubicBezTo>
                <a:cubicBezTo>
                  <a:pt x="2973438" y="949466"/>
                  <a:pt x="2970493" y="975423"/>
                  <a:pt x="2729073" y="955498"/>
                </a:cubicBezTo>
                <a:cubicBezTo>
                  <a:pt x="2487653" y="935573"/>
                  <a:pt x="2278367" y="954942"/>
                  <a:pt x="1979543" y="955498"/>
                </a:cubicBezTo>
                <a:cubicBezTo>
                  <a:pt x="1680719" y="956055"/>
                  <a:pt x="1630796" y="945635"/>
                  <a:pt x="1390625" y="955498"/>
                </a:cubicBezTo>
                <a:cubicBezTo>
                  <a:pt x="1150454" y="965361"/>
                  <a:pt x="506412" y="922907"/>
                  <a:pt x="159253" y="955498"/>
                </a:cubicBezTo>
                <a:cubicBezTo>
                  <a:pt x="74112" y="942719"/>
                  <a:pt x="-9247" y="891858"/>
                  <a:pt x="0" y="796245"/>
                </a:cubicBezTo>
                <a:cubicBezTo>
                  <a:pt x="-22174" y="553375"/>
                  <a:pt x="-22163" y="368720"/>
                  <a:pt x="0" y="159253"/>
                </a:cubicBezTo>
                <a:close/>
              </a:path>
            </a:pathLst>
          </a:custGeom>
          <a:noFill/>
          <a:ln>
            <a:solidFill>
              <a:schemeClr val="accent3">
                <a:lumMod val="25000"/>
              </a:schemeClr>
            </a:solidFill>
            <a:prstDash val="lgDash"/>
            <a:miter lim="800000"/>
            <a:extLst>
              <a:ext uri="{C807C97D-BFC1-408E-A445-0C87EB9F89A2}">
                <ask:lineSketchStyleProps xmlns:ask="http://schemas.microsoft.com/office/drawing/2018/sketchyshapes" sd="2394174527">
                  <a:prstGeom prst="round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4" name="Google Shape;191;p18">
            <a:extLst>
              <a:ext uri="{FF2B5EF4-FFF2-40B4-BE49-F238E27FC236}">
                <a16:creationId xmlns:a16="http://schemas.microsoft.com/office/drawing/2014/main" id="{101336A3-BE8D-4382-A799-8769D7502206}"/>
              </a:ext>
            </a:extLst>
          </p:cNvPr>
          <p:cNvSpPr txBox="1"/>
          <p:nvPr/>
        </p:nvSpPr>
        <p:spPr>
          <a:xfrm>
            <a:off x="5270002" y="5505079"/>
            <a:ext cx="6078714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Aggregates all session orders, processes payments via Cash or UPI, and generates a final digital invoice.</a:t>
            </a:r>
          </a:p>
        </p:txBody>
      </p:sp>
      <p:sp>
        <p:nvSpPr>
          <p:cNvPr id="75" name="Google Shape;193;p18">
            <a:extLst>
              <a:ext uri="{FF2B5EF4-FFF2-40B4-BE49-F238E27FC236}">
                <a16:creationId xmlns:a16="http://schemas.microsoft.com/office/drawing/2014/main" id="{76BA4509-07F2-4A64-A211-3DACEA99D74D}"/>
              </a:ext>
            </a:extLst>
          </p:cNvPr>
          <p:cNvSpPr txBox="1"/>
          <p:nvPr/>
        </p:nvSpPr>
        <p:spPr>
          <a:xfrm>
            <a:off x="3222601" y="5601730"/>
            <a:ext cx="1952124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b="1" dirty="0">
                <a:solidFill>
                  <a:schemeClr val="accent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Payment Processing</a:t>
            </a:r>
            <a:endParaRPr sz="700" b="1" dirty="0">
              <a:solidFill>
                <a:schemeClr val="accent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84936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63CB3-2956-E8D2-C23D-A3BAA7295D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7824" y="1325880"/>
            <a:ext cx="10460736" cy="2286000"/>
          </a:xfrm>
          <a:noFill/>
        </p:spPr>
        <p:txBody>
          <a:bodyPr>
            <a:no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Architecture Diagrams</a:t>
            </a:r>
          </a:p>
        </p:txBody>
      </p:sp>
    </p:spTree>
    <p:extLst>
      <p:ext uri="{BB962C8B-B14F-4D97-AF65-F5344CB8AC3E}">
        <p14:creationId xmlns:p14="http://schemas.microsoft.com/office/powerpoint/2010/main" val="1185038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C27C8-165C-5513-DB4B-9D840097C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934" y="365760"/>
            <a:ext cx="6212793" cy="1124712"/>
          </a:xfrm>
          <a:noFill/>
        </p:spPr>
        <p:txBody>
          <a:bodyPr>
            <a:noAutofit/>
          </a:bodyPr>
          <a:lstStyle/>
          <a:p>
            <a:pPr marL="914400" lvl="2" algn="l">
              <a:spcBef>
                <a:spcPts val="995"/>
              </a:spcBef>
              <a:spcAft>
                <a:spcPts val="0"/>
              </a:spcAft>
              <a:buSzPts val="1100"/>
              <a:tabLst>
                <a:tab pos="800100" algn="l"/>
              </a:tabLst>
            </a:pPr>
            <a:r>
              <a:rPr lang="en-US" sz="4400" b="1" spc="0" dirty="0">
                <a:solidFill>
                  <a:schemeClr val="accent2">
                    <a:lumMod val="25000"/>
                  </a:schemeClr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Use</a:t>
            </a:r>
            <a:r>
              <a:rPr lang="en-US" sz="4400" b="1" spc="-10" dirty="0">
                <a:solidFill>
                  <a:schemeClr val="accent2">
                    <a:lumMod val="25000"/>
                  </a:schemeClr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4400" b="1" spc="0" dirty="0">
                <a:solidFill>
                  <a:schemeClr val="accent2">
                    <a:lumMod val="25000"/>
                  </a:schemeClr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Case</a:t>
            </a:r>
            <a:r>
              <a:rPr lang="en-US" sz="4400" b="1" spc="-10" dirty="0">
                <a:solidFill>
                  <a:schemeClr val="accent2">
                    <a:lumMod val="25000"/>
                  </a:schemeClr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diagram</a:t>
            </a:r>
            <a:endParaRPr lang="en-IN" sz="4400" b="1" spc="0" dirty="0">
              <a:solidFill>
                <a:schemeClr val="accent2">
                  <a:lumMod val="25000"/>
                </a:schemeClr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93736AF-0027-E734-82A8-010D7129D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5912" y="6563001"/>
            <a:ext cx="2743200" cy="228600"/>
          </a:xfrm>
        </p:spPr>
        <p:txBody>
          <a:bodyPr/>
          <a:lstStyle/>
          <a:p>
            <a:fld id="{CBD12358-51D2-46B3-9BDE-DF29528B9454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8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BD8722C-14BE-49B5-ADD3-7E31F7A50E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3700" y="1794617"/>
            <a:ext cx="6212793" cy="4255805"/>
          </a:xfrm>
        </p:spPr>
        <p:txBody>
          <a:bodyPr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Primary Actors: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Admin, Cashier, Kitchen Staff, Customer.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Customer Scope: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 Scan QR, browse menu, place orders, track status, give feedback.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Cashier Scope: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Approve table sessions, manage tables, view orders, generate bills, process payments.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Kitchen Scope: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 View incoming orders and update order statuses.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Admin Scope: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 Manage menu, inventory, system users, and view analytics. 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CFEAF03B-0B37-48EE-886E-BED51160FF8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36171" y="660627"/>
            <a:ext cx="2743199" cy="5536745"/>
          </a:xfrm>
          <a:prstGeom prst="rect">
            <a:avLst/>
          </a:prstGeom>
          <a:ln>
            <a:solidFill>
              <a:schemeClr val="accent3">
                <a:lumMod val="25000"/>
              </a:schemeClr>
            </a:solidFill>
            <a:prstDash val="lgDash"/>
          </a:ln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96BB0329-564B-40AF-AB72-CD7E23836D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6339" y="1038746"/>
            <a:ext cx="6067514" cy="4103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accent2">
                  <a:lumMod val="25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48660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C27C8-165C-5513-DB4B-9D840097C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934" y="365760"/>
            <a:ext cx="6212793" cy="1124712"/>
          </a:xfrm>
          <a:noFill/>
        </p:spPr>
        <p:txBody>
          <a:bodyPr>
            <a:noAutofit/>
          </a:bodyPr>
          <a:lstStyle/>
          <a:p>
            <a:pPr marL="914400" lvl="2" algn="l">
              <a:spcBef>
                <a:spcPts val="995"/>
              </a:spcBef>
              <a:spcAft>
                <a:spcPts val="0"/>
              </a:spcAft>
              <a:buSzPts val="1100"/>
              <a:tabLst>
                <a:tab pos="800100" algn="l"/>
              </a:tabLst>
            </a:pPr>
            <a:r>
              <a:rPr lang="en-US" sz="4400" b="1" spc="0" dirty="0">
                <a:solidFill>
                  <a:schemeClr val="accent2">
                    <a:lumMod val="25000"/>
                  </a:schemeClr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Activity </a:t>
            </a:r>
            <a:r>
              <a:rPr lang="en-US" sz="4400" b="1" spc="-10" dirty="0">
                <a:solidFill>
                  <a:schemeClr val="accent2">
                    <a:lumMod val="25000"/>
                  </a:schemeClr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diagram</a:t>
            </a:r>
            <a:endParaRPr lang="en-IN" sz="4400" b="1" spc="0" dirty="0">
              <a:solidFill>
                <a:schemeClr val="accent2">
                  <a:lumMod val="25000"/>
                </a:schemeClr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93736AF-0027-E734-82A8-010D7129D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5912" y="6563001"/>
            <a:ext cx="2743200" cy="228600"/>
          </a:xfrm>
        </p:spPr>
        <p:txBody>
          <a:bodyPr/>
          <a:lstStyle/>
          <a:p>
            <a:fld id="{CBD12358-51D2-46B3-9BDE-DF29528B9454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9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BD8722C-14BE-49B5-ADD3-7E31F7A50E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3700" y="2131053"/>
            <a:ext cx="5230027" cy="3582934"/>
          </a:xfrm>
        </p:spPr>
        <p:txBody>
          <a:bodyPr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Session Setup: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 Cashier checks table availability and activates QR code upon approval.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Order Placement: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 Customer scans QR, browses menu, selects items, and places order.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System Validation: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 System checks stock; alerts "Out of Stock" if unavailable.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Fulfillment: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 Creates order, updates inventory, and sends KOT to kitchen.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96BB0329-564B-40AF-AB72-CD7E23836D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6339" y="1038746"/>
            <a:ext cx="6067514" cy="4103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accent2">
                  <a:lumMod val="25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Image 7">
            <a:extLst>
              <a:ext uri="{FF2B5EF4-FFF2-40B4-BE49-F238E27FC236}">
                <a16:creationId xmlns:a16="http://schemas.microsoft.com/office/drawing/2014/main" id="{7D30B779-72B2-4019-BFFB-1C05FE2D2C1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05615" y="1248043"/>
            <a:ext cx="4434654" cy="5135668"/>
          </a:xfrm>
          <a:prstGeom prst="rect">
            <a:avLst/>
          </a:prstGeom>
          <a:ln>
            <a:solidFill>
              <a:schemeClr val="accent3">
                <a:lumMod val="25000"/>
              </a:schemeClr>
            </a:solidFill>
            <a:prstDash val="lgDash"/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51F6A8F-13EC-4E65-ADEB-1CA722A94490}"/>
              </a:ext>
            </a:extLst>
          </p:cNvPr>
          <p:cNvSpPr txBox="1"/>
          <p:nvPr/>
        </p:nvSpPr>
        <p:spPr>
          <a:xfrm>
            <a:off x="6905615" y="790081"/>
            <a:ext cx="60974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accent2">
                    <a:lumMod val="25000"/>
                  </a:schemeClr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Customer</a:t>
            </a:r>
            <a:r>
              <a:rPr lang="en-US" sz="1800" spc="-15" dirty="0">
                <a:solidFill>
                  <a:schemeClr val="accent2">
                    <a:lumMod val="25000"/>
                  </a:schemeClr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1800" dirty="0">
                <a:solidFill>
                  <a:schemeClr val="accent2">
                    <a:lumMod val="25000"/>
                  </a:schemeClr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table</a:t>
            </a:r>
            <a:r>
              <a:rPr lang="en-US" sz="1800" spc="-5" dirty="0">
                <a:solidFill>
                  <a:schemeClr val="accent2">
                    <a:lumMod val="25000"/>
                  </a:schemeClr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1800" dirty="0">
                <a:solidFill>
                  <a:schemeClr val="accent2">
                    <a:lumMod val="25000"/>
                  </a:schemeClr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booking</a:t>
            </a:r>
            <a:r>
              <a:rPr lang="en-US" sz="1800" spc="-15" dirty="0">
                <a:solidFill>
                  <a:schemeClr val="accent2">
                    <a:lumMod val="25000"/>
                  </a:schemeClr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1800" dirty="0">
                <a:solidFill>
                  <a:schemeClr val="accent2">
                    <a:lumMod val="25000"/>
                  </a:schemeClr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and</a:t>
            </a:r>
            <a:r>
              <a:rPr lang="en-US" sz="1800" spc="10" dirty="0">
                <a:solidFill>
                  <a:schemeClr val="accent2">
                    <a:lumMod val="25000"/>
                  </a:schemeClr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1800" dirty="0">
                <a:solidFill>
                  <a:schemeClr val="accent2">
                    <a:lumMod val="25000"/>
                  </a:schemeClr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food</a:t>
            </a:r>
            <a:r>
              <a:rPr lang="en-US" sz="1800" spc="-5" dirty="0">
                <a:solidFill>
                  <a:schemeClr val="accent2">
                    <a:lumMod val="25000"/>
                  </a:schemeClr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1800" spc="-10" dirty="0">
                <a:solidFill>
                  <a:schemeClr val="accent2">
                    <a:lumMod val="25000"/>
                  </a:schemeClr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ordering</a:t>
            </a:r>
            <a:endParaRPr lang="en-IN" dirty="0">
              <a:solidFill>
                <a:schemeClr val="accent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0905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C27C8-165C-5513-DB4B-9D840097C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934" y="365760"/>
            <a:ext cx="6212793" cy="1124712"/>
          </a:xfrm>
          <a:noFill/>
        </p:spPr>
        <p:txBody>
          <a:bodyPr>
            <a:noAutofit/>
          </a:bodyPr>
          <a:lstStyle/>
          <a:p>
            <a:pPr marL="914400" lvl="2" algn="l">
              <a:spcBef>
                <a:spcPts val="995"/>
              </a:spcBef>
              <a:spcAft>
                <a:spcPts val="0"/>
              </a:spcAft>
              <a:buSzPts val="1100"/>
              <a:tabLst>
                <a:tab pos="800100" algn="l"/>
              </a:tabLst>
            </a:pPr>
            <a:r>
              <a:rPr lang="en-US" sz="4400" b="1" spc="0" dirty="0">
                <a:solidFill>
                  <a:schemeClr val="accent2">
                    <a:lumMod val="25000"/>
                  </a:schemeClr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Activity </a:t>
            </a:r>
            <a:r>
              <a:rPr lang="en-US" sz="4400" b="1" spc="-10" dirty="0">
                <a:solidFill>
                  <a:schemeClr val="accent2">
                    <a:lumMod val="25000"/>
                  </a:schemeClr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diagram</a:t>
            </a:r>
            <a:endParaRPr lang="en-IN" sz="4400" b="1" spc="0" dirty="0">
              <a:solidFill>
                <a:schemeClr val="accent2">
                  <a:lumMod val="25000"/>
                </a:schemeClr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93736AF-0027-E734-82A8-010D7129D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5912" y="6563001"/>
            <a:ext cx="2743200" cy="228600"/>
          </a:xfrm>
        </p:spPr>
        <p:txBody>
          <a:bodyPr/>
          <a:lstStyle/>
          <a:p>
            <a:fld id="{CBD12358-51D2-46B3-9BDE-DF29528B9454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10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BD8722C-14BE-49B5-ADD3-7E31F7A50E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3700" y="2131053"/>
            <a:ext cx="5230027" cy="3582934"/>
          </a:xfrm>
        </p:spPr>
        <p:txBody>
          <a:bodyPr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Order Transmission: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 System receives customer order and instantly routes KOT to kitchen.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Preparation &amp; Status Update: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 Kitchen staff view order, prepare food, and update status on KDS.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System Broadcast: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 System logs status change and sends real-time notifications to Cashier and Customer.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96BB0329-564B-40AF-AB72-CD7E23836D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6339" y="1038746"/>
            <a:ext cx="6067514" cy="4103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accent2">
                  <a:lumMod val="25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51F6A8F-13EC-4E65-ADEB-1CA722A94490}"/>
              </a:ext>
            </a:extLst>
          </p:cNvPr>
          <p:cNvSpPr txBox="1"/>
          <p:nvPr/>
        </p:nvSpPr>
        <p:spPr>
          <a:xfrm>
            <a:off x="5486400" y="790081"/>
            <a:ext cx="65131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3" algn="just">
              <a:spcBef>
                <a:spcPts val="675"/>
              </a:spcBef>
              <a:buSzPts val="1200"/>
              <a:tabLst>
                <a:tab pos="913765" algn="l"/>
              </a:tabLst>
            </a:pPr>
            <a:r>
              <a:rPr lang="en-US" sz="1800" spc="0" dirty="0">
                <a:solidFill>
                  <a:schemeClr val="accent2">
                    <a:lumMod val="25000"/>
                  </a:schemeClr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Kitchen</a:t>
            </a:r>
            <a:r>
              <a:rPr lang="en-US" sz="1800" spc="-10" dirty="0">
                <a:solidFill>
                  <a:schemeClr val="accent2">
                    <a:lumMod val="25000"/>
                  </a:schemeClr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1800" spc="0" dirty="0">
                <a:solidFill>
                  <a:schemeClr val="accent2">
                    <a:lumMod val="25000"/>
                  </a:schemeClr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order</a:t>
            </a:r>
            <a:r>
              <a:rPr lang="en-US" sz="1800" spc="-5" dirty="0">
                <a:solidFill>
                  <a:schemeClr val="accent2">
                    <a:lumMod val="25000"/>
                  </a:schemeClr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1800" spc="-10" dirty="0">
                <a:solidFill>
                  <a:schemeClr val="accent2">
                    <a:lumMod val="25000"/>
                  </a:schemeClr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processing</a:t>
            </a:r>
            <a:endParaRPr lang="en-IN" sz="1800" spc="0" dirty="0">
              <a:solidFill>
                <a:schemeClr val="accent2">
                  <a:lumMod val="25000"/>
                </a:schemeClr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pic>
        <p:nvPicPr>
          <p:cNvPr id="11" name="Image 8">
            <a:extLst>
              <a:ext uri="{FF2B5EF4-FFF2-40B4-BE49-F238E27FC236}">
                <a16:creationId xmlns:a16="http://schemas.microsoft.com/office/drawing/2014/main" id="{DA9AD919-2DB9-4289-A28D-0403DAD35FF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05615" y="1243929"/>
            <a:ext cx="3263880" cy="5103713"/>
          </a:xfrm>
          <a:prstGeom prst="rect">
            <a:avLst/>
          </a:prstGeom>
          <a:ln>
            <a:solidFill>
              <a:schemeClr val="accent3">
                <a:lumMod val="25000"/>
              </a:schemeClr>
            </a:solidFill>
            <a:prstDash val="lgDash"/>
          </a:ln>
        </p:spPr>
      </p:pic>
    </p:spTree>
    <p:extLst>
      <p:ext uri="{BB962C8B-B14F-4D97-AF65-F5344CB8AC3E}">
        <p14:creationId xmlns:p14="http://schemas.microsoft.com/office/powerpoint/2010/main" val="10355574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47F840CF-284D-4F2B-A3A8-1DCD1FE48E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5615" y="1237244"/>
            <a:ext cx="3822820" cy="5117082"/>
          </a:xfrm>
          <a:prstGeom prst="rect">
            <a:avLst/>
          </a:prstGeom>
          <a:ln>
            <a:solidFill>
              <a:schemeClr val="accent3">
                <a:lumMod val="25000"/>
              </a:schemeClr>
            </a:solidFill>
            <a:prstDash val="lgDash"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14C27C8-165C-5513-DB4B-9D840097C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934" y="365760"/>
            <a:ext cx="6212793" cy="1124712"/>
          </a:xfrm>
          <a:noFill/>
        </p:spPr>
        <p:txBody>
          <a:bodyPr>
            <a:noAutofit/>
          </a:bodyPr>
          <a:lstStyle/>
          <a:p>
            <a:pPr marL="914400" lvl="2" algn="l">
              <a:spcBef>
                <a:spcPts val="995"/>
              </a:spcBef>
              <a:spcAft>
                <a:spcPts val="0"/>
              </a:spcAft>
              <a:buSzPts val="1100"/>
              <a:tabLst>
                <a:tab pos="800100" algn="l"/>
              </a:tabLst>
            </a:pPr>
            <a:r>
              <a:rPr lang="en-US" sz="4400" b="1" spc="0" dirty="0">
                <a:solidFill>
                  <a:schemeClr val="accent2">
                    <a:lumMod val="25000"/>
                  </a:schemeClr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Activity </a:t>
            </a:r>
            <a:r>
              <a:rPr lang="en-US" sz="4400" b="1" spc="-10" dirty="0">
                <a:solidFill>
                  <a:schemeClr val="accent2">
                    <a:lumMod val="25000"/>
                  </a:schemeClr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diagram</a:t>
            </a:r>
            <a:endParaRPr lang="en-IN" sz="4400" b="1" spc="0" dirty="0">
              <a:solidFill>
                <a:schemeClr val="accent2">
                  <a:lumMod val="25000"/>
                </a:schemeClr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93736AF-0027-E734-82A8-010D7129D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5912" y="6563001"/>
            <a:ext cx="2743200" cy="228600"/>
          </a:xfrm>
        </p:spPr>
        <p:txBody>
          <a:bodyPr/>
          <a:lstStyle/>
          <a:p>
            <a:fld id="{CBD12358-51D2-46B3-9BDE-DF29528B9454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11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BD8722C-14BE-49B5-ADD3-7E31F7A50E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3700" y="2131053"/>
            <a:ext cx="5230027" cy="3582934"/>
          </a:xfrm>
        </p:spPr>
        <p:txBody>
          <a:bodyPr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Bill Generation: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 Customer requests bill; Cashier views orders and triggers invoice calculation.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Payment Validation: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 System calculates total and validates collected payment.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Failure Handling: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If payment fails, system alerts Customer and Cashier requests retry.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Session Closure: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 On success, system records payment, frees table status, closes session, and Cashier prints invoice. 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96BB0329-564B-40AF-AB72-CD7E23836D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6339" y="1038746"/>
            <a:ext cx="6067514" cy="4103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accent2">
                  <a:lumMod val="25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51F6A8F-13EC-4E65-ADEB-1CA722A94490}"/>
              </a:ext>
            </a:extLst>
          </p:cNvPr>
          <p:cNvSpPr txBox="1"/>
          <p:nvPr/>
        </p:nvSpPr>
        <p:spPr>
          <a:xfrm>
            <a:off x="5486400" y="790081"/>
            <a:ext cx="65131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3">
              <a:spcBef>
                <a:spcPts val="675"/>
              </a:spcBef>
              <a:buSzPts val="1200"/>
              <a:tabLst>
                <a:tab pos="913765" algn="l"/>
              </a:tabLst>
            </a:pPr>
            <a:r>
              <a:rPr lang="en-US" sz="1800" spc="0" dirty="0">
                <a:solidFill>
                  <a:schemeClr val="accent2">
                    <a:lumMod val="25000"/>
                  </a:schemeClr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Billing</a:t>
            </a:r>
            <a:r>
              <a:rPr lang="en-US" sz="1800" spc="-25" dirty="0">
                <a:solidFill>
                  <a:schemeClr val="accent2">
                    <a:lumMod val="25000"/>
                  </a:schemeClr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1800" spc="0" dirty="0">
                <a:solidFill>
                  <a:schemeClr val="accent2">
                    <a:lumMod val="25000"/>
                  </a:schemeClr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and</a:t>
            </a:r>
            <a:r>
              <a:rPr lang="en-US" sz="1800" spc="-10" dirty="0">
                <a:solidFill>
                  <a:schemeClr val="accent2">
                    <a:lumMod val="25000"/>
                  </a:schemeClr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1800" spc="0" dirty="0">
                <a:solidFill>
                  <a:schemeClr val="accent2">
                    <a:lumMod val="25000"/>
                  </a:schemeClr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payment</a:t>
            </a:r>
            <a:r>
              <a:rPr lang="en-US" sz="1800" spc="-5" dirty="0">
                <a:solidFill>
                  <a:schemeClr val="accent2">
                    <a:lumMod val="25000"/>
                  </a:schemeClr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1800" spc="-10" dirty="0">
                <a:solidFill>
                  <a:schemeClr val="accent2">
                    <a:lumMod val="25000"/>
                  </a:schemeClr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management</a:t>
            </a:r>
            <a:endParaRPr lang="en-IN" sz="1800" spc="0" dirty="0">
              <a:solidFill>
                <a:schemeClr val="accent2">
                  <a:lumMod val="25000"/>
                </a:schemeClr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15237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5DEFE9B5-93CE-44EE-8A31-7E7186E689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5615" y="1243931"/>
            <a:ext cx="3817825" cy="5110396"/>
          </a:xfrm>
          <a:prstGeom prst="rect">
            <a:avLst/>
          </a:prstGeom>
          <a:ln>
            <a:solidFill>
              <a:schemeClr val="accent3">
                <a:lumMod val="25000"/>
              </a:schemeClr>
            </a:solidFill>
            <a:prstDash val="lgDash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3817825"/>
                      <a:gd name="connsiteY0" fmla="*/ 0 h 5110396"/>
                      <a:gd name="connsiteX1" fmla="*/ 712661 w 3817825"/>
                      <a:gd name="connsiteY1" fmla="*/ 0 h 5110396"/>
                      <a:gd name="connsiteX2" fmla="*/ 1425321 w 3817825"/>
                      <a:gd name="connsiteY2" fmla="*/ 0 h 5110396"/>
                      <a:gd name="connsiteX3" fmla="*/ 2061625 w 3817825"/>
                      <a:gd name="connsiteY3" fmla="*/ 0 h 5110396"/>
                      <a:gd name="connsiteX4" fmla="*/ 2736108 w 3817825"/>
                      <a:gd name="connsiteY4" fmla="*/ 0 h 5110396"/>
                      <a:gd name="connsiteX5" fmla="*/ 3817825 w 3817825"/>
                      <a:gd name="connsiteY5" fmla="*/ 0 h 5110396"/>
                      <a:gd name="connsiteX6" fmla="*/ 3817825 w 3817825"/>
                      <a:gd name="connsiteY6" fmla="*/ 638800 h 5110396"/>
                      <a:gd name="connsiteX7" fmla="*/ 3817825 w 3817825"/>
                      <a:gd name="connsiteY7" fmla="*/ 1328703 h 5110396"/>
                      <a:gd name="connsiteX8" fmla="*/ 3817825 w 3817825"/>
                      <a:gd name="connsiteY8" fmla="*/ 1865295 h 5110396"/>
                      <a:gd name="connsiteX9" fmla="*/ 3817825 w 3817825"/>
                      <a:gd name="connsiteY9" fmla="*/ 2350782 h 5110396"/>
                      <a:gd name="connsiteX10" fmla="*/ 3817825 w 3817825"/>
                      <a:gd name="connsiteY10" fmla="*/ 2887374 h 5110396"/>
                      <a:gd name="connsiteX11" fmla="*/ 3817825 w 3817825"/>
                      <a:gd name="connsiteY11" fmla="*/ 3475069 h 5110396"/>
                      <a:gd name="connsiteX12" fmla="*/ 3817825 w 3817825"/>
                      <a:gd name="connsiteY12" fmla="*/ 4113869 h 5110396"/>
                      <a:gd name="connsiteX13" fmla="*/ 3817825 w 3817825"/>
                      <a:gd name="connsiteY13" fmla="*/ 5110396 h 5110396"/>
                      <a:gd name="connsiteX14" fmla="*/ 3105164 w 3817825"/>
                      <a:gd name="connsiteY14" fmla="*/ 5110396 h 5110396"/>
                      <a:gd name="connsiteX15" fmla="*/ 2468860 w 3817825"/>
                      <a:gd name="connsiteY15" fmla="*/ 5110396 h 5110396"/>
                      <a:gd name="connsiteX16" fmla="*/ 1832556 w 3817825"/>
                      <a:gd name="connsiteY16" fmla="*/ 5110396 h 5110396"/>
                      <a:gd name="connsiteX17" fmla="*/ 1196252 w 3817825"/>
                      <a:gd name="connsiteY17" fmla="*/ 5110396 h 5110396"/>
                      <a:gd name="connsiteX18" fmla="*/ 559948 w 3817825"/>
                      <a:gd name="connsiteY18" fmla="*/ 5110396 h 5110396"/>
                      <a:gd name="connsiteX19" fmla="*/ 0 w 3817825"/>
                      <a:gd name="connsiteY19" fmla="*/ 5110396 h 5110396"/>
                      <a:gd name="connsiteX20" fmla="*/ 0 w 3817825"/>
                      <a:gd name="connsiteY20" fmla="*/ 4420493 h 5110396"/>
                      <a:gd name="connsiteX21" fmla="*/ 0 w 3817825"/>
                      <a:gd name="connsiteY21" fmla="*/ 3730589 h 5110396"/>
                      <a:gd name="connsiteX22" fmla="*/ 0 w 3817825"/>
                      <a:gd name="connsiteY22" fmla="*/ 3040686 h 5110396"/>
                      <a:gd name="connsiteX23" fmla="*/ 0 w 3817825"/>
                      <a:gd name="connsiteY23" fmla="*/ 2350782 h 5110396"/>
                      <a:gd name="connsiteX24" fmla="*/ 0 w 3817825"/>
                      <a:gd name="connsiteY24" fmla="*/ 1609775 h 5110396"/>
                      <a:gd name="connsiteX25" fmla="*/ 0 w 3817825"/>
                      <a:gd name="connsiteY25" fmla="*/ 970975 h 5110396"/>
                      <a:gd name="connsiteX26" fmla="*/ 0 w 3817825"/>
                      <a:gd name="connsiteY26" fmla="*/ 0 h 51103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</a:cxnLst>
                    <a:rect l="l" t="t" r="r" b="b"/>
                    <a:pathLst>
                      <a:path w="3817825" h="5110396" fill="none" extrusionOk="0">
                        <a:moveTo>
                          <a:pt x="0" y="0"/>
                        </a:moveTo>
                        <a:cubicBezTo>
                          <a:pt x="209778" y="-24218"/>
                          <a:pt x="505440" y="-32206"/>
                          <a:pt x="712661" y="0"/>
                        </a:cubicBezTo>
                        <a:cubicBezTo>
                          <a:pt x="919882" y="32206"/>
                          <a:pt x="1070590" y="27527"/>
                          <a:pt x="1425321" y="0"/>
                        </a:cubicBezTo>
                        <a:cubicBezTo>
                          <a:pt x="1780052" y="-27527"/>
                          <a:pt x="1779270" y="-13619"/>
                          <a:pt x="2061625" y="0"/>
                        </a:cubicBezTo>
                        <a:cubicBezTo>
                          <a:pt x="2343980" y="13619"/>
                          <a:pt x="2483912" y="-18328"/>
                          <a:pt x="2736108" y="0"/>
                        </a:cubicBezTo>
                        <a:cubicBezTo>
                          <a:pt x="2988304" y="18328"/>
                          <a:pt x="3451968" y="48882"/>
                          <a:pt x="3817825" y="0"/>
                        </a:cubicBezTo>
                        <a:cubicBezTo>
                          <a:pt x="3811846" y="253781"/>
                          <a:pt x="3793429" y="503632"/>
                          <a:pt x="3817825" y="638800"/>
                        </a:cubicBezTo>
                        <a:cubicBezTo>
                          <a:pt x="3842221" y="773968"/>
                          <a:pt x="3795897" y="1089304"/>
                          <a:pt x="3817825" y="1328703"/>
                        </a:cubicBezTo>
                        <a:cubicBezTo>
                          <a:pt x="3839753" y="1568102"/>
                          <a:pt x="3829472" y="1681143"/>
                          <a:pt x="3817825" y="1865295"/>
                        </a:cubicBezTo>
                        <a:cubicBezTo>
                          <a:pt x="3806178" y="2049447"/>
                          <a:pt x="3823955" y="2209170"/>
                          <a:pt x="3817825" y="2350782"/>
                        </a:cubicBezTo>
                        <a:cubicBezTo>
                          <a:pt x="3811695" y="2492394"/>
                          <a:pt x="3811502" y="2762295"/>
                          <a:pt x="3817825" y="2887374"/>
                        </a:cubicBezTo>
                        <a:cubicBezTo>
                          <a:pt x="3824148" y="3012453"/>
                          <a:pt x="3790973" y="3217009"/>
                          <a:pt x="3817825" y="3475069"/>
                        </a:cubicBezTo>
                        <a:cubicBezTo>
                          <a:pt x="3844677" y="3733129"/>
                          <a:pt x="3824829" y="3900873"/>
                          <a:pt x="3817825" y="4113869"/>
                        </a:cubicBezTo>
                        <a:cubicBezTo>
                          <a:pt x="3810821" y="4326865"/>
                          <a:pt x="3850326" y="4841365"/>
                          <a:pt x="3817825" y="5110396"/>
                        </a:cubicBezTo>
                        <a:cubicBezTo>
                          <a:pt x="3594862" y="5106123"/>
                          <a:pt x="3274461" y="5076246"/>
                          <a:pt x="3105164" y="5110396"/>
                        </a:cubicBezTo>
                        <a:cubicBezTo>
                          <a:pt x="2935867" y="5144546"/>
                          <a:pt x="2749144" y="5112551"/>
                          <a:pt x="2468860" y="5110396"/>
                        </a:cubicBezTo>
                        <a:cubicBezTo>
                          <a:pt x="2188576" y="5108241"/>
                          <a:pt x="2140361" y="5131769"/>
                          <a:pt x="1832556" y="5110396"/>
                        </a:cubicBezTo>
                        <a:cubicBezTo>
                          <a:pt x="1524751" y="5089023"/>
                          <a:pt x="1400729" y="5124893"/>
                          <a:pt x="1196252" y="5110396"/>
                        </a:cubicBezTo>
                        <a:cubicBezTo>
                          <a:pt x="991775" y="5095899"/>
                          <a:pt x="701349" y="5126398"/>
                          <a:pt x="559948" y="5110396"/>
                        </a:cubicBezTo>
                        <a:cubicBezTo>
                          <a:pt x="418547" y="5094394"/>
                          <a:pt x="232605" y="5103079"/>
                          <a:pt x="0" y="5110396"/>
                        </a:cubicBezTo>
                        <a:cubicBezTo>
                          <a:pt x="-14343" y="4821763"/>
                          <a:pt x="-12547" y="4628352"/>
                          <a:pt x="0" y="4420493"/>
                        </a:cubicBezTo>
                        <a:cubicBezTo>
                          <a:pt x="12547" y="4212634"/>
                          <a:pt x="-28994" y="3994450"/>
                          <a:pt x="0" y="3730589"/>
                        </a:cubicBezTo>
                        <a:cubicBezTo>
                          <a:pt x="28994" y="3466728"/>
                          <a:pt x="15641" y="3284794"/>
                          <a:pt x="0" y="3040686"/>
                        </a:cubicBezTo>
                        <a:cubicBezTo>
                          <a:pt x="-15641" y="2796578"/>
                          <a:pt x="7417" y="2585078"/>
                          <a:pt x="0" y="2350782"/>
                        </a:cubicBezTo>
                        <a:cubicBezTo>
                          <a:pt x="-7417" y="2116486"/>
                          <a:pt x="-11176" y="1840094"/>
                          <a:pt x="0" y="1609775"/>
                        </a:cubicBezTo>
                        <a:cubicBezTo>
                          <a:pt x="11176" y="1379456"/>
                          <a:pt x="23781" y="1266485"/>
                          <a:pt x="0" y="970975"/>
                        </a:cubicBezTo>
                        <a:cubicBezTo>
                          <a:pt x="-23781" y="675465"/>
                          <a:pt x="1544" y="414699"/>
                          <a:pt x="0" y="0"/>
                        </a:cubicBezTo>
                        <a:close/>
                      </a:path>
                      <a:path w="3817825" h="5110396" stroke="0" extrusionOk="0">
                        <a:moveTo>
                          <a:pt x="0" y="0"/>
                        </a:moveTo>
                        <a:cubicBezTo>
                          <a:pt x="230294" y="-27254"/>
                          <a:pt x="465977" y="-20796"/>
                          <a:pt x="598126" y="0"/>
                        </a:cubicBezTo>
                        <a:cubicBezTo>
                          <a:pt x="730275" y="20796"/>
                          <a:pt x="962352" y="-5662"/>
                          <a:pt x="1119895" y="0"/>
                        </a:cubicBezTo>
                        <a:cubicBezTo>
                          <a:pt x="1277438" y="5662"/>
                          <a:pt x="1602437" y="21582"/>
                          <a:pt x="1832556" y="0"/>
                        </a:cubicBezTo>
                        <a:cubicBezTo>
                          <a:pt x="2062675" y="-21582"/>
                          <a:pt x="2304220" y="13264"/>
                          <a:pt x="2430682" y="0"/>
                        </a:cubicBezTo>
                        <a:cubicBezTo>
                          <a:pt x="2557144" y="-13264"/>
                          <a:pt x="2741615" y="10406"/>
                          <a:pt x="3028808" y="0"/>
                        </a:cubicBezTo>
                        <a:cubicBezTo>
                          <a:pt x="3316001" y="-10406"/>
                          <a:pt x="3455184" y="25965"/>
                          <a:pt x="3817825" y="0"/>
                        </a:cubicBezTo>
                        <a:cubicBezTo>
                          <a:pt x="3838973" y="168940"/>
                          <a:pt x="3801689" y="294644"/>
                          <a:pt x="3817825" y="536592"/>
                        </a:cubicBezTo>
                        <a:cubicBezTo>
                          <a:pt x="3833961" y="778540"/>
                          <a:pt x="3846881" y="999513"/>
                          <a:pt x="3817825" y="1175391"/>
                        </a:cubicBezTo>
                        <a:cubicBezTo>
                          <a:pt x="3788769" y="1351269"/>
                          <a:pt x="3812223" y="1543254"/>
                          <a:pt x="3817825" y="1711983"/>
                        </a:cubicBezTo>
                        <a:cubicBezTo>
                          <a:pt x="3823427" y="1880712"/>
                          <a:pt x="3816014" y="2100312"/>
                          <a:pt x="3817825" y="2248574"/>
                        </a:cubicBezTo>
                        <a:cubicBezTo>
                          <a:pt x="3819636" y="2396836"/>
                          <a:pt x="3821234" y="2748772"/>
                          <a:pt x="3817825" y="2887374"/>
                        </a:cubicBezTo>
                        <a:cubicBezTo>
                          <a:pt x="3814416" y="3025976"/>
                          <a:pt x="3812784" y="3246561"/>
                          <a:pt x="3817825" y="3577277"/>
                        </a:cubicBezTo>
                        <a:cubicBezTo>
                          <a:pt x="3822866" y="3907993"/>
                          <a:pt x="3836140" y="3947121"/>
                          <a:pt x="3817825" y="4062765"/>
                        </a:cubicBezTo>
                        <a:cubicBezTo>
                          <a:pt x="3799510" y="4178409"/>
                          <a:pt x="3780948" y="4845142"/>
                          <a:pt x="3817825" y="5110396"/>
                        </a:cubicBezTo>
                        <a:cubicBezTo>
                          <a:pt x="3646055" y="5100653"/>
                          <a:pt x="3481637" y="5108443"/>
                          <a:pt x="3181521" y="5110396"/>
                        </a:cubicBezTo>
                        <a:cubicBezTo>
                          <a:pt x="2881405" y="5112349"/>
                          <a:pt x="2699027" y="5095083"/>
                          <a:pt x="2545217" y="5110396"/>
                        </a:cubicBezTo>
                        <a:cubicBezTo>
                          <a:pt x="2391407" y="5125709"/>
                          <a:pt x="2028451" y="5077465"/>
                          <a:pt x="1832556" y="5110396"/>
                        </a:cubicBezTo>
                        <a:cubicBezTo>
                          <a:pt x="1636661" y="5143327"/>
                          <a:pt x="1339610" y="5133414"/>
                          <a:pt x="1196252" y="5110396"/>
                        </a:cubicBezTo>
                        <a:cubicBezTo>
                          <a:pt x="1052894" y="5087378"/>
                          <a:pt x="800843" y="5131313"/>
                          <a:pt x="674482" y="5110396"/>
                        </a:cubicBezTo>
                        <a:cubicBezTo>
                          <a:pt x="548121" y="5089480"/>
                          <a:pt x="166910" y="5127903"/>
                          <a:pt x="0" y="5110396"/>
                        </a:cubicBezTo>
                        <a:cubicBezTo>
                          <a:pt x="13816" y="4764339"/>
                          <a:pt x="-24304" y="4656352"/>
                          <a:pt x="0" y="4369389"/>
                        </a:cubicBezTo>
                        <a:cubicBezTo>
                          <a:pt x="24304" y="4082426"/>
                          <a:pt x="-8709" y="3843350"/>
                          <a:pt x="0" y="3628381"/>
                        </a:cubicBezTo>
                        <a:cubicBezTo>
                          <a:pt x="8709" y="3413412"/>
                          <a:pt x="-10311" y="3185091"/>
                          <a:pt x="0" y="2989582"/>
                        </a:cubicBezTo>
                        <a:cubicBezTo>
                          <a:pt x="10311" y="2794073"/>
                          <a:pt x="-27239" y="2643085"/>
                          <a:pt x="0" y="2401886"/>
                        </a:cubicBezTo>
                        <a:cubicBezTo>
                          <a:pt x="27239" y="2160687"/>
                          <a:pt x="8208" y="2017000"/>
                          <a:pt x="0" y="1916399"/>
                        </a:cubicBezTo>
                        <a:cubicBezTo>
                          <a:pt x="-8208" y="1815798"/>
                          <a:pt x="12923" y="1586779"/>
                          <a:pt x="0" y="1430911"/>
                        </a:cubicBezTo>
                        <a:cubicBezTo>
                          <a:pt x="-12923" y="1275043"/>
                          <a:pt x="-6522" y="1046977"/>
                          <a:pt x="0" y="741007"/>
                        </a:cubicBezTo>
                        <a:cubicBezTo>
                          <a:pt x="6522" y="435037"/>
                          <a:pt x="1282" y="346118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14C27C8-165C-5513-DB4B-9D840097C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934" y="365760"/>
            <a:ext cx="6212793" cy="1124712"/>
          </a:xfrm>
          <a:noFill/>
        </p:spPr>
        <p:txBody>
          <a:bodyPr>
            <a:noAutofit/>
          </a:bodyPr>
          <a:lstStyle/>
          <a:p>
            <a:pPr marL="914400" lvl="2" algn="l">
              <a:spcBef>
                <a:spcPts val="995"/>
              </a:spcBef>
              <a:spcAft>
                <a:spcPts val="0"/>
              </a:spcAft>
              <a:buSzPts val="1100"/>
              <a:tabLst>
                <a:tab pos="800100" algn="l"/>
              </a:tabLst>
            </a:pPr>
            <a:r>
              <a:rPr lang="en-US" sz="4400" b="1" spc="0" dirty="0">
                <a:solidFill>
                  <a:schemeClr val="accent2">
                    <a:lumMod val="25000"/>
                  </a:schemeClr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Activity </a:t>
            </a:r>
            <a:r>
              <a:rPr lang="en-US" sz="4400" b="1" spc="-10" dirty="0">
                <a:solidFill>
                  <a:schemeClr val="accent2">
                    <a:lumMod val="25000"/>
                  </a:schemeClr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diagram</a:t>
            </a:r>
            <a:endParaRPr lang="en-IN" sz="4400" b="1" spc="0" dirty="0">
              <a:solidFill>
                <a:schemeClr val="accent2">
                  <a:lumMod val="25000"/>
                </a:schemeClr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93736AF-0027-E734-82A8-010D7129D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5912" y="6563001"/>
            <a:ext cx="2743200" cy="228600"/>
          </a:xfrm>
        </p:spPr>
        <p:txBody>
          <a:bodyPr/>
          <a:lstStyle/>
          <a:p>
            <a:fld id="{CBD12358-51D2-46B3-9BDE-DF29528B9454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12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BD8722C-14BE-49B5-ADD3-7E31F7A50E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3700" y="2131053"/>
            <a:ext cx="5230027" cy="3184431"/>
          </a:xfrm>
        </p:spPr>
        <p:txBody>
          <a:bodyPr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Authentication: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Admin logs in to access management dashboard.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Task Selection: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 Choose module to manage: Menu, Inventory, Users, Tables, or Reports.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System Execution: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 System updates and saves changes to database automatically.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Session Loop: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Admin can perform additional tasks or terminate session. 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96BB0329-564B-40AF-AB72-CD7E23836D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6339" y="1038746"/>
            <a:ext cx="6067514" cy="4103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accent2">
                  <a:lumMod val="25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51F6A8F-13EC-4E65-ADEB-1CA722A94490}"/>
              </a:ext>
            </a:extLst>
          </p:cNvPr>
          <p:cNvSpPr txBox="1"/>
          <p:nvPr/>
        </p:nvSpPr>
        <p:spPr>
          <a:xfrm>
            <a:off x="5486400" y="790081"/>
            <a:ext cx="65131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3">
              <a:spcBef>
                <a:spcPts val="675"/>
              </a:spcBef>
              <a:buSzPts val="1200"/>
              <a:tabLst>
                <a:tab pos="904875" algn="l"/>
              </a:tabLst>
            </a:pPr>
            <a:r>
              <a:rPr lang="en-US" sz="1800" spc="0" dirty="0">
                <a:solidFill>
                  <a:schemeClr val="accent2">
                    <a:lumMod val="25000"/>
                  </a:schemeClr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Admin </a:t>
            </a:r>
            <a:r>
              <a:rPr lang="en-US" sz="1800" spc="-10" dirty="0">
                <a:solidFill>
                  <a:schemeClr val="accent2">
                    <a:lumMod val="25000"/>
                  </a:schemeClr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management</a:t>
            </a:r>
            <a:endParaRPr lang="en-IN" sz="1800" spc="0" dirty="0">
              <a:solidFill>
                <a:schemeClr val="accent2">
                  <a:lumMod val="25000"/>
                </a:schemeClr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65974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75BF1337-9E71-411B-9828-2B838D1E98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5615" y="1243931"/>
            <a:ext cx="4596362" cy="5110396"/>
          </a:xfrm>
          <a:prstGeom prst="rect">
            <a:avLst/>
          </a:prstGeom>
          <a:ln>
            <a:solidFill>
              <a:schemeClr val="accent3">
                <a:lumMod val="25000"/>
              </a:schemeClr>
            </a:solidFill>
            <a:prstDash val="lgDash"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14C27C8-165C-5513-DB4B-9D840097C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934" y="365760"/>
            <a:ext cx="6212793" cy="1124712"/>
          </a:xfrm>
          <a:noFill/>
        </p:spPr>
        <p:txBody>
          <a:bodyPr>
            <a:noAutofit/>
          </a:bodyPr>
          <a:lstStyle/>
          <a:p>
            <a:pPr marL="914400" lvl="2" algn="l">
              <a:spcBef>
                <a:spcPts val="995"/>
              </a:spcBef>
              <a:spcAft>
                <a:spcPts val="0"/>
              </a:spcAft>
              <a:buSzPts val="1100"/>
              <a:tabLst>
                <a:tab pos="800100" algn="l"/>
              </a:tabLst>
            </a:pPr>
            <a:r>
              <a:rPr lang="en-US" sz="4400" b="1" spc="0" dirty="0">
                <a:solidFill>
                  <a:schemeClr val="accent2">
                    <a:lumMod val="25000"/>
                  </a:schemeClr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Class </a:t>
            </a:r>
            <a:r>
              <a:rPr lang="en-US" sz="4400" b="1" spc="-10" dirty="0">
                <a:solidFill>
                  <a:schemeClr val="accent2">
                    <a:lumMod val="25000"/>
                  </a:schemeClr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diagram</a:t>
            </a:r>
            <a:endParaRPr lang="en-IN" sz="4400" b="1" spc="0" dirty="0">
              <a:solidFill>
                <a:schemeClr val="accent2">
                  <a:lumMod val="25000"/>
                </a:schemeClr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93736AF-0027-E734-82A8-010D7129D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5912" y="6563001"/>
            <a:ext cx="2743200" cy="228600"/>
          </a:xfrm>
        </p:spPr>
        <p:txBody>
          <a:bodyPr/>
          <a:lstStyle/>
          <a:p>
            <a:fld id="{CBD12358-51D2-46B3-9BDE-DF29528B9454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13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BD8722C-14BE-49B5-ADD3-7E31F7A50E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3700" y="2131053"/>
            <a:ext cx="5230027" cy="2184573"/>
          </a:xfrm>
        </p:spPr>
        <p:txBody>
          <a:bodyPr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System Structure: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 Maps out core classes like Roles, Users, Tables, and Menus.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Session Hub: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 The Session class acts as the central link connecting a table to its orders and payments.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Order Flow: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 Orders are built using individual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OrderItems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 selected from the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MenuItem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 catalog.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96BB0329-564B-40AF-AB72-CD7E23836D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6339" y="1038746"/>
            <a:ext cx="6067514" cy="4103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accent2">
                  <a:lumMod val="25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9497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F9FCD7BD-6E45-4356-B4A7-FC9D53A14F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5615" y="1243930"/>
            <a:ext cx="3806666" cy="5095458"/>
          </a:xfrm>
          <a:prstGeom prst="rect">
            <a:avLst/>
          </a:prstGeom>
          <a:ln>
            <a:solidFill>
              <a:schemeClr val="accent3">
                <a:lumMod val="25000"/>
              </a:schemeClr>
            </a:solidFill>
            <a:prstDash val="lgDash"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14C27C8-165C-5513-DB4B-9D840097C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934" y="365760"/>
            <a:ext cx="6212793" cy="1124712"/>
          </a:xfrm>
          <a:noFill/>
        </p:spPr>
        <p:txBody>
          <a:bodyPr>
            <a:noAutofit/>
          </a:bodyPr>
          <a:lstStyle/>
          <a:p>
            <a:pPr marL="914400" lvl="2" algn="l">
              <a:spcBef>
                <a:spcPts val="995"/>
              </a:spcBef>
              <a:spcAft>
                <a:spcPts val="0"/>
              </a:spcAft>
              <a:buSzPts val="1100"/>
              <a:tabLst>
                <a:tab pos="800100" algn="l"/>
              </a:tabLst>
            </a:pPr>
            <a:r>
              <a:rPr lang="en-US" sz="4400" b="1" spc="0" dirty="0">
                <a:solidFill>
                  <a:schemeClr val="accent2">
                    <a:lumMod val="25000"/>
                  </a:schemeClr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Sequence </a:t>
            </a:r>
            <a:r>
              <a:rPr lang="en-US" sz="4400" b="1" spc="-10" dirty="0">
                <a:solidFill>
                  <a:schemeClr val="accent2">
                    <a:lumMod val="25000"/>
                  </a:schemeClr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diagram</a:t>
            </a:r>
            <a:endParaRPr lang="en-IN" sz="4400" b="1" spc="0" dirty="0">
              <a:solidFill>
                <a:schemeClr val="accent2">
                  <a:lumMod val="25000"/>
                </a:schemeClr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93736AF-0027-E734-82A8-010D7129D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5912" y="6563001"/>
            <a:ext cx="2743200" cy="228600"/>
          </a:xfrm>
        </p:spPr>
        <p:txBody>
          <a:bodyPr/>
          <a:lstStyle/>
          <a:p>
            <a:fld id="{CBD12358-51D2-46B3-9BDE-DF29528B9454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14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BD8722C-14BE-49B5-ADD3-7E31F7A50E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3700" y="2131054"/>
            <a:ext cx="5230027" cy="3167340"/>
          </a:xfrm>
        </p:spPr>
        <p:txBody>
          <a:bodyPr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Menu Fetch: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 Customer QR scan loads the live menu from the database.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Order Sync: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 Orders save to the database and instantly push to the KDS.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Status Updates: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 Kitchen updates KDS; changes sync back to the database.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Checkout: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 Cashier fetches orders, processes payment, and table status resets.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Feedback: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 Post-payment customer reviews are saved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96BB0329-564B-40AF-AB72-CD7E23836D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6339" y="1038746"/>
            <a:ext cx="6067514" cy="4103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accent2">
                  <a:lumMod val="25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08840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63CB3-2956-E8D2-C23D-A3BAA7295D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7824" y="1325880"/>
            <a:ext cx="10460736" cy="2286000"/>
          </a:xfrm>
          <a:noFill/>
        </p:spPr>
        <p:txBody>
          <a:bodyPr>
            <a:no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Table Designs</a:t>
            </a:r>
          </a:p>
        </p:txBody>
      </p:sp>
    </p:spTree>
    <p:extLst>
      <p:ext uri="{BB962C8B-B14F-4D97-AF65-F5344CB8AC3E}">
        <p14:creationId xmlns:p14="http://schemas.microsoft.com/office/powerpoint/2010/main" val="5561681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16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AC361-0D7A-DC05-86B5-6DD77D322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277856" cy="1655064"/>
          </a:xfrm>
          <a:noFill/>
        </p:spPr>
        <p:txBody>
          <a:bodyPr>
            <a:no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Roles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E98EFF-197D-3136-70B9-7BBD30A489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8991" y="2262909"/>
            <a:ext cx="3465300" cy="3532170"/>
          </a:xfrm>
          <a:noFill/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Purpose: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To define the access levels and specific user roles within the system (e.g., Admin, Cashier, Kitchen). 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F61F934-8535-E086-C153-D48E49B98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5912" y="6563001"/>
            <a:ext cx="2743200" cy="228600"/>
          </a:xfrm>
        </p:spPr>
        <p:txBody>
          <a:bodyPr/>
          <a:lstStyle/>
          <a:p>
            <a:fld id="{CBD12358-51D2-46B3-9BDE-DF29528B9454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16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48EEEFDD-01C4-4CAE-929A-824346C483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0676388"/>
              </p:ext>
            </p:extLst>
          </p:nvPr>
        </p:nvGraphicFramePr>
        <p:xfrm>
          <a:off x="4544291" y="2436788"/>
          <a:ext cx="6648520" cy="1984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5393">
                  <a:extLst>
                    <a:ext uri="{9D8B030D-6E8A-4147-A177-3AD203B41FA5}">
                      <a16:colId xmlns:a16="http://schemas.microsoft.com/office/drawing/2014/main" val="964791773"/>
                    </a:ext>
                  </a:extLst>
                </a:gridCol>
                <a:gridCol w="1348509">
                  <a:extLst>
                    <a:ext uri="{9D8B030D-6E8A-4147-A177-3AD203B41FA5}">
                      <a16:colId xmlns:a16="http://schemas.microsoft.com/office/drawing/2014/main" val="944743687"/>
                    </a:ext>
                  </a:extLst>
                </a:gridCol>
                <a:gridCol w="1431636">
                  <a:extLst>
                    <a:ext uri="{9D8B030D-6E8A-4147-A177-3AD203B41FA5}">
                      <a16:colId xmlns:a16="http://schemas.microsoft.com/office/drawing/2014/main" val="3435107288"/>
                    </a:ext>
                  </a:extLst>
                </a:gridCol>
                <a:gridCol w="2382982">
                  <a:extLst>
                    <a:ext uri="{9D8B030D-6E8A-4147-A177-3AD203B41FA5}">
                      <a16:colId xmlns:a16="http://schemas.microsoft.com/office/drawing/2014/main" val="228414412"/>
                    </a:ext>
                  </a:extLst>
                </a:gridCol>
              </a:tblGrid>
              <a:tr h="496106">
                <a:tc>
                  <a:txBody>
                    <a:bodyPr/>
                    <a:lstStyle/>
                    <a:p>
                      <a:pPr marL="67945" algn="l">
                        <a:lnSpc>
                          <a:spcPct val="150000"/>
                        </a:lnSpc>
                      </a:pPr>
                      <a:r>
                        <a:rPr lang="en-US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Field</a:t>
                      </a:r>
                      <a:r>
                        <a:rPr lang="en-US" sz="1800" spc="-2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Name</a:t>
                      </a:r>
                      <a:endParaRPr lang="en-IN" sz="1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 algn="l">
                        <a:lnSpc>
                          <a:spcPct val="150000"/>
                        </a:lnSpc>
                      </a:pPr>
                      <a:r>
                        <a:rPr lang="en-US" sz="1800" spc="-2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Type</a:t>
                      </a:r>
                      <a:endParaRPr lang="en-IN" sz="1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 algn="l">
                        <a:lnSpc>
                          <a:spcPct val="150000"/>
                        </a:lnSpc>
                      </a:pPr>
                      <a:r>
                        <a:rPr lang="en-US" sz="1800" spc="-1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Constraints</a:t>
                      </a:r>
                      <a:endParaRPr lang="en-IN" sz="1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 algn="l">
                        <a:lnSpc>
                          <a:spcPct val="150000"/>
                        </a:lnSpc>
                      </a:pPr>
                      <a:r>
                        <a:rPr lang="en-US" sz="1800" spc="-1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Description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672937988"/>
                  </a:ext>
                </a:extLst>
              </a:tr>
              <a:tr h="496106">
                <a:tc>
                  <a:txBody>
                    <a:bodyPr/>
                    <a:lstStyle/>
                    <a:p>
                      <a:pPr marL="67945" algn="l">
                        <a:lnSpc>
                          <a:spcPct val="150000"/>
                        </a:lnSpc>
                      </a:pPr>
                      <a:r>
                        <a:rPr lang="en-US" sz="1800" spc="-25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id</a:t>
                      </a:r>
                      <a:endParaRPr lang="en-IN" sz="1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 algn="l">
                        <a:lnSpc>
                          <a:spcPct val="150000"/>
                        </a:lnSpc>
                      </a:pPr>
                      <a:r>
                        <a:rPr lang="en-US" sz="1800" spc="-1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Integer</a:t>
                      </a:r>
                      <a:endParaRPr lang="en-IN" sz="1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 algn="l">
                        <a:lnSpc>
                          <a:spcPct val="150000"/>
                        </a:lnSpc>
                      </a:pPr>
                      <a:r>
                        <a:rPr lang="en-US" sz="1800" spc="-25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PK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 algn="l">
                        <a:lnSpc>
                          <a:spcPct val="150000"/>
                        </a:lnSpc>
                      </a:pPr>
                      <a:r>
                        <a:rPr lang="en-US" sz="18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Unique</a:t>
                      </a:r>
                      <a:r>
                        <a:rPr lang="en-US" sz="1800" spc="-5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8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role</a:t>
                      </a:r>
                      <a:r>
                        <a:rPr lang="en-US" sz="1800" spc="5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800" spc="-25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ID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298253270"/>
                  </a:ext>
                </a:extLst>
              </a:tr>
              <a:tr h="496106">
                <a:tc>
                  <a:txBody>
                    <a:bodyPr/>
                    <a:lstStyle/>
                    <a:p>
                      <a:pPr marL="67945" algn="l">
                        <a:lnSpc>
                          <a:spcPct val="150000"/>
                        </a:lnSpc>
                      </a:pPr>
                      <a:r>
                        <a:rPr lang="en-US" sz="1800" spc="-2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name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 algn="l">
                        <a:lnSpc>
                          <a:spcPct val="150000"/>
                        </a:lnSpc>
                      </a:pPr>
                      <a:r>
                        <a:rPr lang="en-US" sz="1800" spc="-1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String</a:t>
                      </a:r>
                      <a:endParaRPr lang="en-IN" sz="1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 algn="l">
                        <a:lnSpc>
                          <a:spcPct val="150000"/>
                        </a:lnSpc>
                      </a:pPr>
                      <a:r>
                        <a:rPr lang="en-US" sz="1800" spc="-1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Unique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 algn="l">
                        <a:lnSpc>
                          <a:spcPct val="150000"/>
                        </a:lnSpc>
                      </a:pPr>
                      <a:r>
                        <a:rPr lang="en-US" sz="1800" spc="-1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Admin/Cashier/Kitchen</a:t>
                      </a:r>
                      <a:endParaRPr lang="en-IN" sz="1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992929824"/>
                  </a:ext>
                </a:extLst>
              </a:tr>
              <a:tr h="496106">
                <a:tc>
                  <a:txBody>
                    <a:bodyPr/>
                    <a:lstStyle/>
                    <a:p>
                      <a:pPr marL="67945" algn="l">
                        <a:lnSpc>
                          <a:spcPct val="150000"/>
                        </a:lnSpc>
                      </a:pPr>
                      <a:r>
                        <a:rPr lang="en-US" sz="1800" spc="-1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createdAt</a:t>
                      </a:r>
                      <a:endParaRPr lang="en-IN" sz="1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 algn="l">
                        <a:lnSpc>
                          <a:spcPct val="150000"/>
                        </a:lnSpc>
                      </a:pPr>
                      <a:r>
                        <a:rPr lang="en-US" sz="1800" spc="-1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DateTime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 algn="l">
                        <a:lnSpc>
                          <a:spcPct val="150000"/>
                        </a:lnSpc>
                      </a:pPr>
                      <a:r>
                        <a:rPr lang="en-US" sz="18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 algn="l">
                        <a:lnSpc>
                          <a:spcPct val="150000"/>
                        </a:lnSpc>
                      </a:pPr>
                      <a:r>
                        <a:rPr lang="en-US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Created</a:t>
                      </a:r>
                      <a:r>
                        <a:rPr lang="en-US" sz="1800" spc="-15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800" spc="-2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time</a:t>
                      </a:r>
                      <a:endParaRPr lang="en-IN" sz="1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576085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29920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16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AC361-0D7A-DC05-86B5-6DD77D322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277856" cy="1655064"/>
          </a:xfrm>
          <a:noFill/>
        </p:spPr>
        <p:txBody>
          <a:bodyPr>
            <a:no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Users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E98EFF-197D-3136-70B9-7BBD30A489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8991" y="2262909"/>
            <a:ext cx="3465300" cy="3532170"/>
          </a:xfrm>
          <a:noFill/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Purpose: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To store employee details, secure login credentials, and assign roles for system access. 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F61F934-8535-E086-C153-D48E49B98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5912" y="6563001"/>
            <a:ext cx="2743200" cy="228600"/>
          </a:xfrm>
        </p:spPr>
        <p:txBody>
          <a:bodyPr/>
          <a:lstStyle/>
          <a:p>
            <a:fld id="{CBD12358-51D2-46B3-9BDE-DF29528B9454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17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48EEEFDD-01C4-4CAE-929A-824346C483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9768521"/>
              </p:ext>
            </p:extLst>
          </p:nvPr>
        </p:nvGraphicFramePr>
        <p:xfrm>
          <a:off x="4544291" y="948470"/>
          <a:ext cx="6648520" cy="49610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5393">
                  <a:extLst>
                    <a:ext uri="{9D8B030D-6E8A-4147-A177-3AD203B41FA5}">
                      <a16:colId xmlns:a16="http://schemas.microsoft.com/office/drawing/2014/main" val="964791773"/>
                    </a:ext>
                  </a:extLst>
                </a:gridCol>
                <a:gridCol w="1348509">
                  <a:extLst>
                    <a:ext uri="{9D8B030D-6E8A-4147-A177-3AD203B41FA5}">
                      <a16:colId xmlns:a16="http://schemas.microsoft.com/office/drawing/2014/main" val="944743687"/>
                    </a:ext>
                  </a:extLst>
                </a:gridCol>
                <a:gridCol w="1431636">
                  <a:extLst>
                    <a:ext uri="{9D8B030D-6E8A-4147-A177-3AD203B41FA5}">
                      <a16:colId xmlns:a16="http://schemas.microsoft.com/office/drawing/2014/main" val="3435107288"/>
                    </a:ext>
                  </a:extLst>
                </a:gridCol>
                <a:gridCol w="2382982">
                  <a:extLst>
                    <a:ext uri="{9D8B030D-6E8A-4147-A177-3AD203B41FA5}">
                      <a16:colId xmlns:a16="http://schemas.microsoft.com/office/drawing/2014/main" val="228414412"/>
                    </a:ext>
                  </a:extLst>
                </a:gridCol>
              </a:tblGrid>
              <a:tr h="496106"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Field</a:t>
                      </a:r>
                      <a:r>
                        <a:rPr lang="en-US" sz="1800" spc="-2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Name</a:t>
                      </a:r>
                      <a:endParaRPr lang="en-IN" sz="1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 spc="-2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Type</a:t>
                      </a:r>
                      <a:endParaRPr lang="en-IN" sz="1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 spc="-1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Constraints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 spc="-1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Description</a:t>
                      </a:r>
                      <a:endParaRPr lang="en-IN" sz="1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672937988"/>
                  </a:ext>
                </a:extLst>
              </a:tr>
              <a:tr h="496106"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  <a:spcBef>
                          <a:spcPts val="5"/>
                        </a:spcBef>
                      </a:pPr>
                      <a:r>
                        <a:rPr lang="en-US" sz="1800" spc="-25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id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  <a:spcBef>
                          <a:spcPts val="5"/>
                        </a:spcBef>
                      </a:pPr>
                      <a:r>
                        <a:rPr lang="en-US" sz="1800" spc="-1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Integer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  <a:spcBef>
                          <a:spcPts val="5"/>
                        </a:spcBef>
                      </a:pPr>
                      <a:r>
                        <a:rPr lang="en-US" sz="1800" spc="-25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PK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  <a:spcBef>
                          <a:spcPts val="5"/>
                        </a:spcBef>
                      </a:pPr>
                      <a:r>
                        <a:rPr lang="en-US" sz="18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User</a:t>
                      </a:r>
                      <a:r>
                        <a:rPr lang="en-US" sz="1800" spc="-5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800" spc="-25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ID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298253270"/>
                  </a:ext>
                </a:extLst>
              </a:tr>
              <a:tr h="496106"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  <a:spcBef>
                          <a:spcPts val="5"/>
                        </a:spcBef>
                      </a:pPr>
                      <a:r>
                        <a:rPr lang="en-US" sz="1800" spc="-1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fullName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  <a:spcBef>
                          <a:spcPts val="5"/>
                        </a:spcBef>
                      </a:pPr>
                      <a:r>
                        <a:rPr lang="en-US" sz="1800" spc="-1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String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  <a:spcBef>
                          <a:spcPts val="5"/>
                        </a:spcBef>
                      </a:pPr>
                      <a:r>
                        <a:rPr lang="en-US" sz="18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Employee</a:t>
                      </a:r>
                      <a:r>
                        <a:rPr lang="en-US" sz="1800" spc="-35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800" spc="-2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name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992929824"/>
                  </a:ext>
                </a:extLst>
              </a:tr>
              <a:tr h="496106"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 spc="-1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username</a:t>
                      </a:r>
                      <a:endParaRPr lang="en-IN" sz="1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 spc="-1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String</a:t>
                      </a:r>
                      <a:endParaRPr lang="en-IN" sz="1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 spc="-1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Unique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Login</a:t>
                      </a:r>
                      <a:r>
                        <a:rPr lang="en-US" sz="1800" spc="-2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800" spc="-1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username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57608566"/>
                  </a:ext>
                </a:extLst>
              </a:tr>
              <a:tr h="496106"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 spc="-1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email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 spc="-1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String</a:t>
                      </a:r>
                      <a:endParaRPr lang="en-IN" sz="1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 spc="-1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Unique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 spc="-2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Email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636960548"/>
                  </a:ext>
                </a:extLst>
              </a:tr>
              <a:tr h="496106"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 spc="-1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password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 spc="-1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String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Hashed</a:t>
                      </a:r>
                      <a:r>
                        <a:rPr lang="en-US" sz="1800" spc="-25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800" spc="-1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password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295155613"/>
                  </a:ext>
                </a:extLst>
              </a:tr>
              <a:tr h="496106"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 spc="-1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roleId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 spc="-1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Integer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 spc="-25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FK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 spc="-2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Role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003409403"/>
                  </a:ext>
                </a:extLst>
              </a:tr>
              <a:tr h="496106"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 spc="-1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isActive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 spc="-1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Boolean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 spc="-1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Status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708670511"/>
                  </a:ext>
                </a:extLst>
              </a:tr>
              <a:tr h="496106"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 spc="-1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createdAt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 spc="-1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DateTime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498993270"/>
                  </a:ext>
                </a:extLst>
              </a:tr>
              <a:tr h="496106"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 spc="-1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updatedAt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 spc="-1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DateTime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IN" sz="1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9097914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723499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16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AC361-0D7A-DC05-86B5-6DD77D322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277856" cy="1655064"/>
          </a:xfrm>
          <a:noFill/>
        </p:spPr>
        <p:txBody>
          <a:bodyPr>
            <a:no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Categories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E98EFF-197D-3136-70B9-7BBD30A489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8991" y="2262909"/>
            <a:ext cx="3465300" cy="3532170"/>
          </a:xfrm>
          <a:noFill/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Purpose: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 To organize menu items into distinct groups for easier navigation. 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F61F934-8535-E086-C153-D48E49B98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5912" y="6563001"/>
            <a:ext cx="2743200" cy="228600"/>
          </a:xfrm>
        </p:spPr>
        <p:txBody>
          <a:bodyPr/>
          <a:lstStyle/>
          <a:p>
            <a:fld id="{CBD12358-51D2-46B3-9BDE-DF29528B9454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18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48EEEFDD-01C4-4CAE-929A-824346C483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8487843"/>
              </p:ext>
            </p:extLst>
          </p:nvPr>
        </p:nvGraphicFramePr>
        <p:xfrm>
          <a:off x="4544291" y="2188735"/>
          <a:ext cx="6648520" cy="24805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5393">
                  <a:extLst>
                    <a:ext uri="{9D8B030D-6E8A-4147-A177-3AD203B41FA5}">
                      <a16:colId xmlns:a16="http://schemas.microsoft.com/office/drawing/2014/main" val="964791773"/>
                    </a:ext>
                  </a:extLst>
                </a:gridCol>
                <a:gridCol w="1348509">
                  <a:extLst>
                    <a:ext uri="{9D8B030D-6E8A-4147-A177-3AD203B41FA5}">
                      <a16:colId xmlns:a16="http://schemas.microsoft.com/office/drawing/2014/main" val="944743687"/>
                    </a:ext>
                  </a:extLst>
                </a:gridCol>
                <a:gridCol w="1431636">
                  <a:extLst>
                    <a:ext uri="{9D8B030D-6E8A-4147-A177-3AD203B41FA5}">
                      <a16:colId xmlns:a16="http://schemas.microsoft.com/office/drawing/2014/main" val="3435107288"/>
                    </a:ext>
                  </a:extLst>
                </a:gridCol>
                <a:gridCol w="2382982">
                  <a:extLst>
                    <a:ext uri="{9D8B030D-6E8A-4147-A177-3AD203B41FA5}">
                      <a16:colId xmlns:a16="http://schemas.microsoft.com/office/drawing/2014/main" val="228414412"/>
                    </a:ext>
                  </a:extLst>
                </a:gridCol>
              </a:tblGrid>
              <a:tr h="496106"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Field</a:t>
                      </a:r>
                      <a:r>
                        <a:rPr lang="en-US" sz="1800" spc="-2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Name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 spc="-2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Type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 spc="-1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Constraints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 spc="-1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Description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672937988"/>
                  </a:ext>
                </a:extLst>
              </a:tr>
              <a:tr h="496106"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 spc="-25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id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 spc="-1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Integer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 spc="-25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PK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Category</a:t>
                      </a:r>
                      <a:r>
                        <a:rPr lang="en-US" sz="1800" spc="-1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800" spc="-25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ID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298253270"/>
                  </a:ext>
                </a:extLst>
              </a:tr>
              <a:tr h="496106"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  <a:spcBef>
                          <a:spcPts val="5"/>
                        </a:spcBef>
                      </a:pPr>
                      <a:r>
                        <a:rPr lang="en-US" sz="1800" spc="-2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name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  <a:spcBef>
                          <a:spcPts val="5"/>
                        </a:spcBef>
                      </a:pPr>
                      <a:r>
                        <a:rPr lang="en-US" sz="1800" spc="-1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String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  <a:spcBef>
                          <a:spcPts val="5"/>
                        </a:spcBef>
                      </a:pPr>
                      <a:r>
                        <a:rPr lang="en-US" sz="1800" spc="-1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Unique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  <a:spcBef>
                          <a:spcPts val="5"/>
                        </a:spcBef>
                      </a:pPr>
                      <a:r>
                        <a:rPr lang="en-US" sz="1800" spc="-1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Category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992929824"/>
                  </a:ext>
                </a:extLst>
              </a:tr>
              <a:tr h="496106"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  <a:spcBef>
                          <a:spcPts val="5"/>
                        </a:spcBef>
                      </a:pPr>
                      <a:r>
                        <a:rPr lang="en-US" sz="1800" spc="-1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description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  <a:spcBef>
                          <a:spcPts val="5"/>
                        </a:spcBef>
                      </a:pPr>
                      <a:r>
                        <a:rPr lang="en-US" sz="1800" spc="-1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String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  <a:spcBef>
                          <a:spcPts val="5"/>
                        </a:spcBef>
                      </a:pPr>
                      <a:r>
                        <a:rPr lang="en-US" sz="1800" spc="-1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Description</a:t>
                      </a:r>
                      <a:endParaRPr lang="en-IN" sz="1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57608566"/>
                  </a:ext>
                </a:extLst>
              </a:tr>
              <a:tr h="496106"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 spc="-1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createdAt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 spc="-10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DateTime</a:t>
                      </a:r>
                      <a:endParaRPr lang="en-IN" sz="1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en-IN" sz="1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6369605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98143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16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AC361-0D7A-DC05-86B5-6DD77D322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277856" cy="1655064"/>
          </a:xfrm>
          <a:noFill/>
        </p:spPr>
        <p:txBody>
          <a:bodyPr>
            <a:noAutofit/>
          </a:bodyPr>
          <a:lstStyle/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MenuItems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E98EFF-197D-3136-70B9-7BBD30A489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8991" y="2262909"/>
            <a:ext cx="3465300" cy="3532170"/>
          </a:xfrm>
          <a:noFill/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Purpose: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To store details of individual food items, including pricing and availability.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F61F934-8535-E086-C153-D48E49B98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5912" y="6563001"/>
            <a:ext cx="2743200" cy="228600"/>
          </a:xfrm>
        </p:spPr>
        <p:txBody>
          <a:bodyPr/>
          <a:lstStyle/>
          <a:p>
            <a:fld id="{CBD12358-51D2-46B3-9BDE-DF29528B9454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19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48EEEFDD-01C4-4CAE-929A-824346C483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774336"/>
              </p:ext>
            </p:extLst>
          </p:nvPr>
        </p:nvGraphicFramePr>
        <p:xfrm>
          <a:off x="4544291" y="948470"/>
          <a:ext cx="6648520" cy="49610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5393">
                  <a:extLst>
                    <a:ext uri="{9D8B030D-6E8A-4147-A177-3AD203B41FA5}">
                      <a16:colId xmlns:a16="http://schemas.microsoft.com/office/drawing/2014/main" val="964791773"/>
                    </a:ext>
                  </a:extLst>
                </a:gridCol>
                <a:gridCol w="1348509">
                  <a:extLst>
                    <a:ext uri="{9D8B030D-6E8A-4147-A177-3AD203B41FA5}">
                      <a16:colId xmlns:a16="http://schemas.microsoft.com/office/drawing/2014/main" val="944743687"/>
                    </a:ext>
                  </a:extLst>
                </a:gridCol>
                <a:gridCol w="1431636">
                  <a:extLst>
                    <a:ext uri="{9D8B030D-6E8A-4147-A177-3AD203B41FA5}">
                      <a16:colId xmlns:a16="http://schemas.microsoft.com/office/drawing/2014/main" val="3435107288"/>
                    </a:ext>
                  </a:extLst>
                </a:gridCol>
                <a:gridCol w="2382982">
                  <a:extLst>
                    <a:ext uri="{9D8B030D-6E8A-4147-A177-3AD203B41FA5}">
                      <a16:colId xmlns:a16="http://schemas.microsoft.com/office/drawing/2014/main" val="228414412"/>
                    </a:ext>
                  </a:extLst>
                </a:gridCol>
              </a:tblGrid>
              <a:tr h="496106"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Field</a:t>
                      </a:r>
                      <a:r>
                        <a:rPr lang="en-US" sz="1800" spc="-2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Name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 spc="-2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Type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 spc="-1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Constraints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 spc="-1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Description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672937988"/>
                  </a:ext>
                </a:extLst>
              </a:tr>
              <a:tr h="496106"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 spc="-25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id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 spc="-1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Integer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 spc="-25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PK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Menu</a:t>
                      </a:r>
                      <a:r>
                        <a:rPr lang="en-US" sz="1800" spc="5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800" spc="-25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ID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298253270"/>
                  </a:ext>
                </a:extLst>
              </a:tr>
              <a:tr h="496106"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 spc="-1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categoryId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 spc="-1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Integer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 spc="-25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FK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 spc="-1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Category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992929824"/>
                  </a:ext>
                </a:extLst>
              </a:tr>
              <a:tr h="496106"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 spc="-2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name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 spc="-1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String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 spc="-2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Item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57608566"/>
                  </a:ext>
                </a:extLst>
              </a:tr>
              <a:tr h="496106"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 spc="-1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description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 spc="-1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String</a:t>
                      </a:r>
                      <a:endParaRPr lang="en-IN" sz="1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Dish</a:t>
                      </a:r>
                      <a:r>
                        <a:rPr lang="en-US" sz="18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d</a:t>
                      </a: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escription</a:t>
                      </a:r>
                      <a:endParaRPr lang="en-IN" sz="1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636960548"/>
                  </a:ext>
                </a:extLst>
              </a:tr>
              <a:tr h="496106"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  <a:spcBef>
                          <a:spcPts val="5"/>
                        </a:spcBef>
                      </a:pPr>
                      <a:r>
                        <a:rPr lang="en-US" sz="1800" spc="-1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price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  <a:spcBef>
                          <a:spcPts val="5"/>
                        </a:spcBef>
                      </a:pPr>
                      <a:r>
                        <a:rPr lang="en-US" sz="1800" spc="-1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Decimal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Cost of the item</a:t>
                      </a:r>
                      <a:endParaRPr lang="en-IN" sz="1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979689176"/>
                  </a:ext>
                </a:extLst>
              </a:tr>
              <a:tr h="496106"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  <a:spcBef>
                          <a:spcPts val="5"/>
                        </a:spcBef>
                      </a:pPr>
                      <a:r>
                        <a:rPr lang="en-US" sz="1800" spc="-1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imageUrl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  <a:spcBef>
                          <a:spcPts val="5"/>
                        </a:spcBef>
                      </a:pPr>
                      <a:r>
                        <a:rPr lang="en-US" sz="1800" spc="-1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String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Link to the image</a:t>
                      </a:r>
                      <a:endParaRPr lang="en-IN" sz="1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304102585"/>
                  </a:ext>
                </a:extLst>
              </a:tr>
              <a:tr h="496106"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  <a:spcBef>
                          <a:spcPts val="5"/>
                        </a:spcBef>
                      </a:pPr>
                      <a:r>
                        <a:rPr lang="en-US" sz="1800" spc="-1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isAvailable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  <a:spcBef>
                          <a:spcPts val="5"/>
                        </a:spcBef>
                      </a:pPr>
                      <a:r>
                        <a:rPr lang="en-US" sz="1800" spc="-1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Boolean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r>
                        <a:rPr lang="en-IN" sz="18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A</a:t>
                      </a:r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vailability status</a:t>
                      </a:r>
                      <a:endParaRPr lang="en-IN" sz="1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992209381"/>
                  </a:ext>
                </a:extLst>
              </a:tr>
              <a:tr h="496106"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 spc="-1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createdAt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 spc="-1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DateTime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637754228"/>
                  </a:ext>
                </a:extLst>
              </a:tr>
              <a:tr h="496106"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 spc="-1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updatedAt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 spc="-1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DateTime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en-IN" sz="1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5808407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354379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16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AC361-0D7A-DC05-86B5-6DD77D322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277856" cy="1655064"/>
          </a:xfrm>
          <a:noFill/>
        </p:spPr>
        <p:txBody>
          <a:bodyPr>
            <a:no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Inventory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E98EFF-197D-3136-70B9-7BBD30A489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8991" y="2262909"/>
            <a:ext cx="3465300" cy="3532170"/>
          </a:xfrm>
          <a:noFill/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Purpose: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To store details of individual food items, including pricing and availability.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F61F934-8535-E086-C153-D48E49B98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5912" y="6563001"/>
            <a:ext cx="2743200" cy="228600"/>
          </a:xfrm>
        </p:spPr>
        <p:txBody>
          <a:bodyPr/>
          <a:lstStyle/>
          <a:p>
            <a:fld id="{CBD12358-51D2-46B3-9BDE-DF29528B9454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20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48EEEFDD-01C4-4CAE-929A-824346C483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5071329"/>
              </p:ext>
            </p:extLst>
          </p:nvPr>
        </p:nvGraphicFramePr>
        <p:xfrm>
          <a:off x="4544291" y="1940682"/>
          <a:ext cx="6648520" cy="29766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5393">
                  <a:extLst>
                    <a:ext uri="{9D8B030D-6E8A-4147-A177-3AD203B41FA5}">
                      <a16:colId xmlns:a16="http://schemas.microsoft.com/office/drawing/2014/main" val="964791773"/>
                    </a:ext>
                  </a:extLst>
                </a:gridCol>
                <a:gridCol w="1348509">
                  <a:extLst>
                    <a:ext uri="{9D8B030D-6E8A-4147-A177-3AD203B41FA5}">
                      <a16:colId xmlns:a16="http://schemas.microsoft.com/office/drawing/2014/main" val="944743687"/>
                    </a:ext>
                  </a:extLst>
                </a:gridCol>
                <a:gridCol w="1431636">
                  <a:extLst>
                    <a:ext uri="{9D8B030D-6E8A-4147-A177-3AD203B41FA5}">
                      <a16:colId xmlns:a16="http://schemas.microsoft.com/office/drawing/2014/main" val="3435107288"/>
                    </a:ext>
                  </a:extLst>
                </a:gridCol>
                <a:gridCol w="2382982">
                  <a:extLst>
                    <a:ext uri="{9D8B030D-6E8A-4147-A177-3AD203B41FA5}">
                      <a16:colId xmlns:a16="http://schemas.microsoft.com/office/drawing/2014/main" val="228414412"/>
                    </a:ext>
                  </a:extLst>
                </a:gridCol>
              </a:tblGrid>
              <a:tr h="496106"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Field</a:t>
                      </a:r>
                      <a:r>
                        <a:rPr lang="en-US" sz="1800" spc="-2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Name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 spc="-2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Type</a:t>
                      </a:r>
                      <a:endParaRPr lang="en-IN" sz="1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 spc="-1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Constraints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 spc="-1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Description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672937988"/>
                  </a:ext>
                </a:extLst>
              </a:tr>
              <a:tr h="496106"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 spc="-25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id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 spc="-1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Integer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 spc="-25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PK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I</a:t>
                      </a:r>
                      <a:r>
                        <a:rPr lang="en-IN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nventory</a:t>
                      </a:r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record ID</a:t>
                      </a:r>
                      <a:endParaRPr lang="en-IN" sz="1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298253270"/>
                  </a:ext>
                </a:extLst>
              </a:tr>
              <a:tr h="496106"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  <a:spcBef>
                          <a:spcPts val="5"/>
                        </a:spcBef>
                      </a:pPr>
                      <a:r>
                        <a:rPr lang="en-US" sz="1800" spc="-1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menuItemId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  <a:spcBef>
                          <a:spcPts val="5"/>
                        </a:spcBef>
                      </a:pPr>
                      <a:r>
                        <a:rPr lang="en-US" sz="1800" spc="-1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Integer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  <a:spcBef>
                          <a:spcPts val="5"/>
                        </a:spcBef>
                      </a:pPr>
                      <a:r>
                        <a:rPr lang="en-US" sz="1800" spc="-25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FK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Linked menu item</a:t>
                      </a:r>
                      <a:endParaRPr lang="en-IN" sz="1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992929824"/>
                  </a:ext>
                </a:extLst>
              </a:tr>
              <a:tr h="496106"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  <a:spcBef>
                          <a:spcPts val="5"/>
                        </a:spcBef>
                      </a:pPr>
                      <a:r>
                        <a:rPr lang="en-US" sz="1800" spc="-1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dailyLimit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  <a:spcBef>
                          <a:spcPts val="5"/>
                        </a:spcBef>
                      </a:pPr>
                      <a:r>
                        <a:rPr lang="en-US" sz="1800" spc="-1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Integer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Daily quantity</a:t>
                      </a:r>
                      <a:endParaRPr lang="en-IN" sz="1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57608566"/>
                  </a:ext>
                </a:extLst>
              </a:tr>
              <a:tr h="496106"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 spc="-1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remainingQty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 spc="-1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Integer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Remaining quantity</a:t>
                      </a:r>
                      <a:endParaRPr lang="en-IN" sz="1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636960548"/>
                  </a:ext>
                </a:extLst>
              </a:tr>
              <a:tr h="496106"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 spc="-1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updatedAt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 spc="-1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DateTime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Last stock update</a:t>
                      </a:r>
                      <a:endParaRPr lang="en-IN" sz="1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9796891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036015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16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AC361-0D7A-DC05-86B5-6DD77D322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277856" cy="1655064"/>
          </a:xfrm>
          <a:noFill/>
        </p:spPr>
        <p:txBody>
          <a:bodyPr>
            <a:noAutofit/>
          </a:bodyPr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RESTAURANT</a:t>
            </a:r>
            <a:b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TABLES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E98EFF-197D-3136-70B9-7BBD30A489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8991" y="2262909"/>
            <a:ext cx="3465300" cy="3532170"/>
          </a:xfrm>
          <a:noFill/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Purpose: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To maintain physical table layouts and QR codes.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F61F934-8535-E086-C153-D48E49B98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5912" y="6563001"/>
            <a:ext cx="2743200" cy="228600"/>
          </a:xfrm>
        </p:spPr>
        <p:txBody>
          <a:bodyPr/>
          <a:lstStyle/>
          <a:p>
            <a:fld id="{CBD12358-51D2-46B3-9BDE-DF29528B9454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21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48EEEFDD-01C4-4CAE-929A-824346C483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5176799"/>
              </p:ext>
            </p:extLst>
          </p:nvPr>
        </p:nvGraphicFramePr>
        <p:xfrm>
          <a:off x="4544291" y="1692629"/>
          <a:ext cx="6648520" cy="34727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5393">
                  <a:extLst>
                    <a:ext uri="{9D8B030D-6E8A-4147-A177-3AD203B41FA5}">
                      <a16:colId xmlns:a16="http://schemas.microsoft.com/office/drawing/2014/main" val="964791773"/>
                    </a:ext>
                  </a:extLst>
                </a:gridCol>
                <a:gridCol w="1348509">
                  <a:extLst>
                    <a:ext uri="{9D8B030D-6E8A-4147-A177-3AD203B41FA5}">
                      <a16:colId xmlns:a16="http://schemas.microsoft.com/office/drawing/2014/main" val="944743687"/>
                    </a:ext>
                  </a:extLst>
                </a:gridCol>
                <a:gridCol w="1431636">
                  <a:extLst>
                    <a:ext uri="{9D8B030D-6E8A-4147-A177-3AD203B41FA5}">
                      <a16:colId xmlns:a16="http://schemas.microsoft.com/office/drawing/2014/main" val="3435107288"/>
                    </a:ext>
                  </a:extLst>
                </a:gridCol>
                <a:gridCol w="2382982">
                  <a:extLst>
                    <a:ext uri="{9D8B030D-6E8A-4147-A177-3AD203B41FA5}">
                      <a16:colId xmlns:a16="http://schemas.microsoft.com/office/drawing/2014/main" val="228414412"/>
                    </a:ext>
                  </a:extLst>
                </a:gridCol>
              </a:tblGrid>
              <a:tr h="496106"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Field</a:t>
                      </a:r>
                      <a:r>
                        <a:rPr lang="en-US" sz="1800" spc="-2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Name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 spc="-2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Type</a:t>
                      </a:r>
                      <a:endParaRPr lang="en-IN" sz="1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 spc="-1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Constraints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 spc="-1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Description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672937988"/>
                  </a:ext>
                </a:extLst>
              </a:tr>
              <a:tr h="496106"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 spc="-25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id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 spc="-1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Integer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 spc="-25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PK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Unique table ID</a:t>
                      </a:r>
                      <a:endParaRPr lang="en-IN" sz="1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298253270"/>
                  </a:ext>
                </a:extLst>
              </a:tr>
              <a:tr h="496106"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 spc="-1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tableNumber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 spc="-1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Integer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 spc="-1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Unique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Physical table number</a:t>
                      </a:r>
                      <a:endParaRPr lang="en-IN" sz="1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992929824"/>
                  </a:ext>
                </a:extLst>
              </a:tr>
              <a:tr h="496106"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 spc="-1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capacity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 spc="-1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Integer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Total seats</a:t>
                      </a:r>
                      <a:endParaRPr lang="en-IN" sz="1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57608566"/>
                  </a:ext>
                </a:extLst>
              </a:tr>
              <a:tr h="496106"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  <a:spcBef>
                          <a:spcPts val="5"/>
                        </a:spcBef>
                      </a:pPr>
                      <a:r>
                        <a:rPr lang="en-US" sz="1800" spc="-1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status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  <a:spcBef>
                          <a:spcPts val="5"/>
                        </a:spcBef>
                      </a:pPr>
                      <a:r>
                        <a:rPr lang="en-US" sz="1800" spc="-2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Enum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Availability state</a:t>
                      </a:r>
                      <a:endParaRPr lang="en-IN" sz="1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636960548"/>
                  </a:ext>
                </a:extLst>
              </a:tr>
              <a:tr h="496106"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  <a:spcBef>
                          <a:spcPts val="5"/>
                        </a:spcBef>
                      </a:pPr>
                      <a:r>
                        <a:rPr lang="en-US" sz="1800" spc="-1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qrCode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  <a:spcBef>
                          <a:spcPts val="5"/>
                        </a:spcBef>
                      </a:pPr>
                      <a:r>
                        <a:rPr lang="en-US" sz="1800" spc="-1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String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Scannable link</a:t>
                      </a:r>
                      <a:endParaRPr lang="en-IN" sz="1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979689176"/>
                  </a:ext>
                </a:extLst>
              </a:tr>
              <a:tr h="496106"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  <a:spcBef>
                          <a:spcPts val="5"/>
                        </a:spcBef>
                      </a:pPr>
                      <a:r>
                        <a:rPr lang="en-US" sz="1800" spc="-1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createdAt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  <a:spcBef>
                          <a:spcPts val="5"/>
                        </a:spcBef>
                      </a:pPr>
                      <a:r>
                        <a:rPr lang="en-US" sz="1800" spc="-1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DateTime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en-IN" sz="1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3307745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949858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16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AC361-0D7A-DC05-86B5-6DD77D322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277856" cy="1655064"/>
          </a:xfrm>
          <a:noFill/>
        </p:spPr>
        <p:txBody>
          <a:bodyPr>
            <a:noAutofit/>
          </a:bodyPr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DINING </a:t>
            </a:r>
            <a:b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SESSIONS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E98EFF-197D-3136-70B9-7BBD30A489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8991" y="2262909"/>
            <a:ext cx="3465300" cy="3532170"/>
          </a:xfrm>
          <a:noFill/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Purpose: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To securely manage customer dining instances and link orders.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F61F934-8535-E086-C153-D48E49B98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5912" y="6563001"/>
            <a:ext cx="2743200" cy="228600"/>
          </a:xfrm>
        </p:spPr>
        <p:txBody>
          <a:bodyPr/>
          <a:lstStyle/>
          <a:p>
            <a:fld id="{CBD12358-51D2-46B3-9BDE-DF29528B9454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22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48EEEFDD-01C4-4CAE-929A-824346C4839F}"/>
              </a:ext>
            </a:extLst>
          </p:cNvPr>
          <p:cNvGraphicFramePr>
            <a:graphicFrameLocks noGrp="1"/>
          </p:cNvGraphicFramePr>
          <p:nvPr/>
        </p:nvGraphicFramePr>
        <p:xfrm>
          <a:off x="4544291" y="1444576"/>
          <a:ext cx="6648520" cy="396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5393">
                  <a:extLst>
                    <a:ext uri="{9D8B030D-6E8A-4147-A177-3AD203B41FA5}">
                      <a16:colId xmlns:a16="http://schemas.microsoft.com/office/drawing/2014/main" val="964791773"/>
                    </a:ext>
                  </a:extLst>
                </a:gridCol>
                <a:gridCol w="1348509">
                  <a:extLst>
                    <a:ext uri="{9D8B030D-6E8A-4147-A177-3AD203B41FA5}">
                      <a16:colId xmlns:a16="http://schemas.microsoft.com/office/drawing/2014/main" val="944743687"/>
                    </a:ext>
                  </a:extLst>
                </a:gridCol>
                <a:gridCol w="1431636">
                  <a:extLst>
                    <a:ext uri="{9D8B030D-6E8A-4147-A177-3AD203B41FA5}">
                      <a16:colId xmlns:a16="http://schemas.microsoft.com/office/drawing/2014/main" val="3435107288"/>
                    </a:ext>
                  </a:extLst>
                </a:gridCol>
                <a:gridCol w="2382982">
                  <a:extLst>
                    <a:ext uri="{9D8B030D-6E8A-4147-A177-3AD203B41FA5}">
                      <a16:colId xmlns:a16="http://schemas.microsoft.com/office/drawing/2014/main" val="228414412"/>
                    </a:ext>
                  </a:extLst>
                </a:gridCol>
              </a:tblGrid>
              <a:tr h="496106"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Field</a:t>
                      </a:r>
                      <a:r>
                        <a:rPr lang="en-US" sz="1800" spc="-2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Name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 spc="-2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Type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 spc="-1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Constraints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 spc="-1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Description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672937988"/>
                  </a:ext>
                </a:extLst>
              </a:tr>
              <a:tr h="496106"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 spc="-25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id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 spc="-1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Integer</a:t>
                      </a:r>
                      <a:endParaRPr lang="en-IN" sz="1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 spc="-25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PK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r>
                        <a:rPr lang="en-I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Session ID</a:t>
                      </a:r>
                      <a:endParaRPr lang="en-IN" sz="1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298253270"/>
                  </a:ext>
                </a:extLst>
              </a:tr>
              <a:tr h="496106"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 spc="-1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tableId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 spc="-1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Integer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 spc="-25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FK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r>
                        <a:rPr lang="en-I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Assigned table</a:t>
                      </a:r>
                      <a:endParaRPr lang="en-IN" sz="1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992929824"/>
                  </a:ext>
                </a:extLst>
              </a:tr>
              <a:tr h="496106"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 spc="-1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sessionCode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 spc="-1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String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 spc="-1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Unique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r>
                        <a:rPr lang="en-I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Unique access code</a:t>
                      </a:r>
                      <a:endParaRPr lang="en-IN" sz="1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57608566"/>
                  </a:ext>
                </a:extLst>
              </a:tr>
              <a:tr h="496106"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 spc="-1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startTime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 spc="-1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DateTime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r>
                        <a:rPr lang="en-I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Seating time</a:t>
                      </a:r>
                      <a:endParaRPr lang="en-IN" sz="1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636960548"/>
                  </a:ext>
                </a:extLst>
              </a:tr>
              <a:tr h="496106"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 spc="-1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endTime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 spc="-1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DateTime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r>
                        <a:rPr lang="en-I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Completion time</a:t>
                      </a:r>
                      <a:endParaRPr lang="en-IN" sz="1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979689176"/>
                  </a:ext>
                </a:extLst>
              </a:tr>
              <a:tr h="496106"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  <a:spcBef>
                          <a:spcPts val="5"/>
                        </a:spcBef>
                      </a:pPr>
                      <a:r>
                        <a:rPr lang="en-US" sz="1800" spc="-1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status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  <a:spcBef>
                          <a:spcPts val="5"/>
                        </a:spcBef>
                      </a:pPr>
                      <a:r>
                        <a:rPr lang="en-US" sz="1800" spc="-2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Enum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r>
                        <a:rPr lang="en-I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Session progress</a:t>
                      </a:r>
                      <a:endParaRPr lang="en-IN" sz="1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330774581"/>
                  </a:ext>
                </a:extLst>
              </a:tr>
              <a:tr h="496106"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  <a:spcBef>
                          <a:spcPts val="5"/>
                        </a:spcBef>
                      </a:pPr>
                      <a:r>
                        <a:rPr lang="en-US" sz="1800" spc="-1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totalAmount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  <a:spcBef>
                          <a:spcPts val="5"/>
                        </a:spcBef>
                      </a:pPr>
                      <a:r>
                        <a:rPr lang="en-US" sz="1800" spc="-1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Decimal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r>
                        <a:rPr lang="en-I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Final bill value</a:t>
                      </a:r>
                      <a:endParaRPr lang="en-IN" sz="1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1398351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72661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16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AC361-0D7A-DC05-86B5-6DD77D322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277856" cy="1655064"/>
          </a:xfrm>
          <a:noFill/>
        </p:spPr>
        <p:txBody>
          <a:bodyPr>
            <a:noAutofit/>
          </a:bodyPr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ORDERS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E98EFF-197D-3136-70B9-7BBD30A489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8991" y="2262909"/>
            <a:ext cx="3465300" cy="3532170"/>
          </a:xfrm>
          <a:noFill/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Purpose: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To log overall KOTs submitted during an active session.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F61F934-8535-E086-C153-D48E49B98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5912" y="6563001"/>
            <a:ext cx="2743200" cy="228600"/>
          </a:xfrm>
        </p:spPr>
        <p:txBody>
          <a:bodyPr/>
          <a:lstStyle/>
          <a:p>
            <a:fld id="{CBD12358-51D2-46B3-9BDE-DF29528B9454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23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48EEEFDD-01C4-4CAE-929A-824346C483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741221"/>
              </p:ext>
            </p:extLst>
          </p:nvPr>
        </p:nvGraphicFramePr>
        <p:xfrm>
          <a:off x="4544291" y="1554602"/>
          <a:ext cx="6648520" cy="37487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5393">
                  <a:extLst>
                    <a:ext uri="{9D8B030D-6E8A-4147-A177-3AD203B41FA5}">
                      <a16:colId xmlns:a16="http://schemas.microsoft.com/office/drawing/2014/main" val="964791773"/>
                    </a:ext>
                  </a:extLst>
                </a:gridCol>
                <a:gridCol w="1348509">
                  <a:extLst>
                    <a:ext uri="{9D8B030D-6E8A-4147-A177-3AD203B41FA5}">
                      <a16:colId xmlns:a16="http://schemas.microsoft.com/office/drawing/2014/main" val="944743687"/>
                    </a:ext>
                  </a:extLst>
                </a:gridCol>
                <a:gridCol w="1431636">
                  <a:extLst>
                    <a:ext uri="{9D8B030D-6E8A-4147-A177-3AD203B41FA5}">
                      <a16:colId xmlns:a16="http://schemas.microsoft.com/office/drawing/2014/main" val="3435107288"/>
                    </a:ext>
                  </a:extLst>
                </a:gridCol>
                <a:gridCol w="2382982">
                  <a:extLst>
                    <a:ext uri="{9D8B030D-6E8A-4147-A177-3AD203B41FA5}">
                      <a16:colId xmlns:a16="http://schemas.microsoft.com/office/drawing/2014/main" val="228414412"/>
                    </a:ext>
                  </a:extLst>
                </a:gridCol>
              </a:tblGrid>
              <a:tr h="496106"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Field</a:t>
                      </a:r>
                      <a:r>
                        <a:rPr lang="en-US" sz="1800" spc="-2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Name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 spc="-2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Type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 spc="-1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Constraints</a:t>
                      </a:r>
                      <a:endParaRPr lang="en-IN" sz="1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 spc="-1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Description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672937988"/>
                  </a:ext>
                </a:extLst>
              </a:tr>
              <a:tr h="496106"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 spc="-25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id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 spc="-1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Integer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 spc="-25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PK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r>
                        <a:rPr lang="en-I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Main order ID</a:t>
                      </a:r>
                      <a:endParaRPr lang="en-IN" sz="1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298253270"/>
                  </a:ext>
                </a:extLst>
              </a:tr>
              <a:tr h="496106"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 spc="-1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diningSessionId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 spc="-1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Integer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 spc="-25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FK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r>
                        <a:rPr lang="en-I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Linked session</a:t>
                      </a:r>
                      <a:endParaRPr lang="en-IN" sz="1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992929824"/>
                  </a:ext>
                </a:extLst>
              </a:tr>
              <a:tr h="496106"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 spc="-1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orderNumber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 spc="-1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String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 spc="-1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Unique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I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Ticket number</a:t>
                      </a:r>
                      <a:endParaRPr lang="en-IN" sz="1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57608566"/>
                  </a:ext>
                </a:extLst>
              </a:tr>
              <a:tr h="496106"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 spc="-1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status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 spc="-2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Enum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r>
                        <a:rPr lang="en-I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Preparation state</a:t>
                      </a:r>
                      <a:endParaRPr lang="en-IN" sz="1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636960548"/>
                  </a:ext>
                </a:extLst>
              </a:tr>
              <a:tr h="496106"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 spc="-1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orderedAt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 spc="-1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DateTime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r>
                        <a:rPr lang="en-I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Submission time</a:t>
                      </a:r>
                      <a:endParaRPr lang="en-IN" sz="1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979689176"/>
                  </a:ext>
                </a:extLst>
              </a:tr>
              <a:tr h="496106"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 spc="-1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notes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 spc="-1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String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r>
                        <a:rPr lang="en-I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Special requests</a:t>
                      </a:r>
                      <a:endParaRPr lang="en-IN" sz="1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3307745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27832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16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AC361-0D7A-DC05-86B5-6DD77D322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277856" cy="1655064"/>
          </a:xfrm>
          <a:noFill/>
        </p:spPr>
        <p:txBody>
          <a:bodyPr>
            <a:noAutofit/>
          </a:bodyPr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ORDER</a:t>
            </a:r>
            <a:b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ITEMS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E98EFF-197D-3136-70B9-7BBD30A489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8991" y="2262909"/>
            <a:ext cx="3465300" cy="3532170"/>
          </a:xfrm>
          <a:noFill/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Purpose: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To record exact quantities and prices of individual items within an order.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F61F934-8535-E086-C153-D48E49B98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5912" y="6563001"/>
            <a:ext cx="2743200" cy="228600"/>
          </a:xfrm>
        </p:spPr>
        <p:txBody>
          <a:bodyPr/>
          <a:lstStyle/>
          <a:p>
            <a:fld id="{CBD12358-51D2-46B3-9BDE-DF29528B9454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24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48EEEFDD-01C4-4CAE-929A-824346C483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8472529"/>
              </p:ext>
            </p:extLst>
          </p:nvPr>
        </p:nvGraphicFramePr>
        <p:xfrm>
          <a:off x="4544291" y="1692629"/>
          <a:ext cx="6648520" cy="34727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5393">
                  <a:extLst>
                    <a:ext uri="{9D8B030D-6E8A-4147-A177-3AD203B41FA5}">
                      <a16:colId xmlns:a16="http://schemas.microsoft.com/office/drawing/2014/main" val="964791773"/>
                    </a:ext>
                  </a:extLst>
                </a:gridCol>
                <a:gridCol w="1348509">
                  <a:extLst>
                    <a:ext uri="{9D8B030D-6E8A-4147-A177-3AD203B41FA5}">
                      <a16:colId xmlns:a16="http://schemas.microsoft.com/office/drawing/2014/main" val="944743687"/>
                    </a:ext>
                  </a:extLst>
                </a:gridCol>
                <a:gridCol w="1431636">
                  <a:extLst>
                    <a:ext uri="{9D8B030D-6E8A-4147-A177-3AD203B41FA5}">
                      <a16:colId xmlns:a16="http://schemas.microsoft.com/office/drawing/2014/main" val="3435107288"/>
                    </a:ext>
                  </a:extLst>
                </a:gridCol>
                <a:gridCol w="2382982">
                  <a:extLst>
                    <a:ext uri="{9D8B030D-6E8A-4147-A177-3AD203B41FA5}">
                      <a16:colId xmlns:a16="http://schemas.microsoft.com/office/drawing/2014/main" val="228414412"/>
                    </a:ext>
                  </a:extLst>
                </a:gridCol>
              </a:tblGrid>
              <a:tr h="496106"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  <a:spcBef>
                          <a:spcPts val="5"/>
                        </a:spcBef>
                      </a:pPr>
                      <a:r>
                        <a:rPr lang="en-US" sz="18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Field</a:t>
                      </a:r>
                      <a:r>
                        <a:rPr lang="en-US" sz="1800" spc="-2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Name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  <a:spcBef>
                          <a:spcPts val="5"/>
                        </a:spcBef>
                      </a:pPr>
                      <a:r>
                        <a:rPr lang="en-US" sz="1800" spc="-2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Type</a:t>
                      </a:r>
                      <a:endParaRPr lang="en-IN" sz="1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  <a:spcBef>
                          <a:spcPts val="5"/>
                        </a:spcBef>
                      </a:pPr>
                      <a:r>
                        <a:rPr lang="en-US" sz="1800" spc="-1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Constraints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  <a:spcBef>
                          <a:spcPts val="5"/>
                        </a:spcBef>
                      </a:pPr>
                      <a:r>
                        <a:rPr lang="en-US" sz="1800" spc="-1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Description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672937988"/>
                  </a:ext>
                </a:extLst>
              </a:tr>
              <a:tr h="496106"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 spc="-25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id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 spc="-1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Integer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 spc="-25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PK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r>
                        <a:rPr lang="en-I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Row entry ID</a:t>
                      </a:r>
                      <a:endParaRPr lang="en-IN" sz="1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298253270"/>
                  </a:ext>
                </a:extLst>
              </a:tr>
              <a:tr h="496106"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 spc="-1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orderId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 spc="-1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Integer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 spc="-25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FK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r>
                        <a:rPr lang="en-I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Linked main order</a:t>
                      </a:r>
                      <a:endParaRPr lang="en-IN" sz="1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992929824"/>
                  </a:ext>
                </a:extLst>
              </a:tr>
              <a:tr h="496106"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 spc="-1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menuItemId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 spc="-1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Integer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 spc="-25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FK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r>
                        <a:rPr lang="en-I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Ordered dish</a:t>
                      </a:r>
                      <a:endParaRPr lang="en-IN" sz="1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57608566"/>
                  </a:ext>
                </a:extLst>
              </a:tr>
              <a:tr h="496106"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 spc="-1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quantity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 spc="-1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Integer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r>
                        <a:rPr lang="en-I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Number of portions</a:t>
                      </a:r>
                      <a:endParaRPr lang="en-IN" sz="1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636960548"/>
                  </a:ext>
                </a:extLst>
              </a:tr>
              <a:tr h="496106"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 spc="-1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price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 spc="-1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Decimal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r>
                        <a:rPr lang="en-I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Unit cost</a:t>
                      </a:r>
                      <a:endParaRPr lang="en-IN" sz="1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979689176"/>
                  </a:ext>
                </a:extLst>
              </a:tr>
              <a:tr h="496106"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 spc="-1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subtotal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 spc="-1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Decimal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r>
                        <a:rPr lang="en-I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Total for item</a:t>
                      </a:r>
                      <a:endParaRPr lang="en-IN" sz="1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3307745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58117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16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AC361-0D7A-DC05-86B5-6DD77D322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277856" cy="1655064"/>
          </a:xfrm>
          <a:noFill/>
        </p:spPr>
        <p:txBody>
          <a:bodyPr>
            <a:noAutofit/>
          </a:bodyPr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PAYMENTS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E98EFF-197D-3136-70B9-7BBD30A489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8991" y="2262909"/>
            <a:ext cx="3465300" cy="3532170"/>
          </a:xfrm>
          <a:noFill/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Purpose: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To store financial transaction records and statuses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F61F934-8535-E086-C153-D48E49B98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5912" y="6563001"/>
            <a:ext cx="2743200" cy="228600"/>
          </a:xfrm>
        </p:spPr>
        <p:txBody>
          <a:bodyPr/>
          <a:lstStyle/>
          <a:p>
            <a:fld id="{CBD12358-51D2-46B3-9BDE-DF29528B9454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25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48EEEFDD-01C4-4CAE-929A-824346C483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6186000"/>
              </p:ext>
            </p:extLst>
          </p:nvPr>
        </p:nvGraphicFramePr>
        <p:xfrm>
          <a:off x="4544291" y="1692629"/>
          <a:ext cx="6648520" cy="34727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4909">
                  <a:extLst>
                    <a:ext uri="{9D8B030D-6E8A-4147-A177-3AD203B41FA5}">
                      <a16:colId xmlns:a16="http://schemas.microsoft.com/office/drawing/2014/main" val="964791773"/>
                    </a:ext>
                  </a:extLst>
                </a:gridCol>
                <a:gridCol w="1236133">
                  <a:extLst>
                    <a:ext uri="{9D8B030D-6E8A-4147-A177-3AD203B41FA5}">
                      <a16:colId xmlns:a16="http://schemas.microsoft.com/office/drawing/2014/main" val="944743687"/>
                    </a:ext>
                  </a:extLst>
                </a:gridCol>
                <a:gridCol w="1439334">
                  <a:extLst>
                    <a:ext uri="{9D8B030D-6E8A-4147-A177-3AD203B41FA5}">
                      <a16:colId xmlns:a16="http://schemas.microsoft.com/office/drawing/2014/main" val="3435107288"/>
                    </a:ext>
                  </a:extLst>
                </a:gridCol>
                <a:gridCol w="2218144">
                  <a:extLst>
                    <a:ext uri="{9D8B030D-6E8A-4147-A177-3AD203B41FA5}">
                      <a16:colId xmlns:a16="http://schemas.microsoft.com/office/drawing/2014/main" val="228414412"/>
                    </a:ext>
                  </a:extLst>
                </a:gridCol>
              </a:tblGrid>
              <a:tr h="496106"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  <a:spcBef>
                          <a:spcPts val="5"/>
                        </a:spcBef>
                      </a:pPr>
                      <a:r>
                        <a:rPr lang="en-US" sz="18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Field</a:t>
                      </a:r>
                      <a:r>
                        <a:rPr lang="en-US" sz="1800" spc="-2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Name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  <a:spcBef>
                          <a:spcPts val="5"/>
                        </a:spcBef>
                      </a:pPr>
                      <a:r>
                        <a:rPr lang="en-US" sz="1800" spc="-2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Type</a:t>
                      </a:r>
                      <a:endParaRPr lang="en-IN" sz="1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  <a:spcBef>
                          <a:spcPts val="5"/>
                        </a:spcBef>
                      </a:pPr>
                      <a:r>
                        <a:rPr lang="en-US" sz="1800" spc="-1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Constraints</a:t>
                      </a:r>
                      <a:endParaRPr lang="en-IN" sz="1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  <a:spcBef>
                          <a:spcPts val="5"/>
                        </a:spcBef>
                      </a:pPr>
                      <a:r>
                        <a:rPr lang="en-US" sz="1800" spc="-1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Description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672937988"/>
                  </a:ext>
                </a:extLst>
              </a:tr>
              <a:tr h="496106"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  <a:spcBef>
                          <a:spcPts val="5"/>
                        </a:spcBef>
                      </a:pPr>
                      <a:r>
                        <a:rPr lang="en-US" sz="1800" spc="-25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id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  <a:spcBef>
                          <a:spcPts val="5"/>
                        </a:spcBef>
                      </a:pPr>
                      <a:r>
                        <a:rPr lang="en-US" sz="1800" spc="-1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Integer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  <a:spcBef>
                          <a:spcPts val="5"/>
                        </a:spcBef>
                      </a:pPr>
                      <a:r>
                        <a:rPr lang="en-US" sz="1800" spc="-25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PK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r>
                        <a:rPr lang="en-I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Payment ID</a:t>
                      </a:r>
                      <a:endParaRPr lang="en-IN" sz="1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298253270"/>
                  </a:ext>
                </a:extLst>
              </a:tr>
              <a:tr h="496106"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  <a:spcBef>
                          <a:spcPts val="5"/>
                        </a:spcBef>
                      </a:pPr>
                      <a:r>
                        <a:rPr lang="en-US" sz="1800" spc="-1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diningSessionId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  <a:spcBef>
                          <a:spcPts val="5"/>
                        </a:spcBef>
                      </a:pPr>
                      <a:r>
                        <a:rPr lang="en-US" sz="1800" spc="-1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Integer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  <a:spcBef>
                          <a:spcPts val="5"/>
                        </a:spcBef>
                      </a:pPr>
                      <a:r>
                        <a:rPr lang="en-US" sz="18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FK,</a:t>
                      </a:r>
                      <a:r>
                        <a:rPr lang="en-US" sz="1800" spc="-1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Unique</a:t>
                      </a:r>
                      <a:endParaRPr lang="en-IN" sz="1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r>
                        <a:rPr lang="en-I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Billed session</a:t>
                      </a:r>
                      <a:endParaRPr lang="en-IN" sz="1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992929824"/>
                  </a:ext>
                </a:extLst>
              </a:tr>
              <a:tr h="496106"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 spc="-1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amount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 spc="-1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Decimal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r>
                        <a:rPr lang="en-I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Money paid</a:t>
                      </a:r>
                      <a:endParaRPr lang="en-IN" sz="1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57608566"/>
                  </a:ext>
                </a:extLst>
              </a:tr>
              <a:tr h="496106"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 spc="-1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paymentMethod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 spc="-2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Enum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r>
                        <a:rPr lang="en-I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Cash or UPI</a:t>
                      </a:r>
                      <a:endParaRPr lang="en-IN" sz="1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636960548"/>
                  </a:ext>
                </a:extLst>
              </a:tr>
              <a:tr h="496106"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 spc="-1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paymentStatus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 spc="-2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Enum</a:t>
                      </a:r>
                      <a:endParaRPr lang="en-IN" sz="1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r>
                        <a:rPr lang="en-I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Success/Fail state</a:t>
                      </a:r>
                      <a:endParaRPr lang="en-IN" sz="1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979689176"/>
                  </a:ext>
                </a:extLst>
              </a:tr>
              <a:tr h="496106"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 spc="-1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paidAt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US" sz="1800" spc="-10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DateTime</a:t>
                      </a:r>
                      <a:endParaRPr lang="en-IN" sz="1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50000"/>
                        </a:lnSpc>
                      </a:pPr>
                      <a:r>
                        <a:rPr lang="en-I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Transaction time</a:t>
                      </a:r>
                      <a:endParaRPr lang="en-IN" sz="1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3258299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79348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63CB3-2956-E8D2-C23D-A3BAA7295D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7824" y="1325880"/>
            <a:ext cx="10460736" cy="2286000"/>
          </a:xfrm>
          <a:noFill/>
        </p:spPr>
        <p:txBody>
          <a:bodyPr>
            <a:no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Form Design</a:t>
            </a:r>
          </a:p>
        </p:txBody>
      </p:sp>
    </p:spTree>
    <p:extLst>
      <p:ext uri="{BB962C8B-B14F-4D97-AF65-F5344CB8AC3E}">
        <p14:creationId xmlns:p14="http://schemas.microsoft.com/office/powerpoint/2010/main" val="23256307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13">
            <a:extLst>
              <a:ext uri="{FF2B5EF4-FFF2-40B4-BE49-F238E27FC236}">
                <a16:creationId xmlns:a16="http://schemas.microsoft.com/office/drawing/2014/main" id="{7D6C7A7D-A843-4BBE-8F18-38617E66A69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6415" y="692996"/>
            <a:ext cx="10279169" cy="5472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165454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4">
            <a:extLst>
              <a:ext uri="{FF2B5EF4-FFF2-40B4-BE49-F238E27FC236}">
                <a16:creationId xmlns:a16="http://schemas.microsoft.com/office/drawing/2014/main" id="{557EBEFA-369F-4AB6-A3E7-CDB2F38D592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6415" y="692395"/>
            <a:ext cx="10279169" cy="5473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267485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2A0D7AA-8A21-B977-56ED-94406F2995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3856" y="56450"/>
            <a:ext cx="9912096" cy="2743200"/>
          </a:xfrm>
          <a:noFill/>
        </p:spPr>
        <p:txBody>
          <a:bodyPr anchor="b">
            <a:no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751616652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Blue spheres">
      <a:dk1>
        <a:srgbClr val="000000"/>
      </a:dk1>
      <a:lt1>
        <a:srgbClr val="FFFFFF"/>
      </a:lt1>
      <a:dk2>
        <a:srgbClr val="E3E7ED"/>
      </a:dk2>
      <a:lt2>
        <a:srgbClr val="E8E8E8"/>
      </a:lt2>
      <a:accent1>
        <a:srgbClr val="7673F7"/>
      </a:accent1>
      <a:accent2>
        <a:srgbClr val="B8C2FD"/>
      </a:accent2>
      <a:accent3>
        <a:srgbClr val="DFE3FC"/>
      </a:accent3>
      <a:accent4>
        <a:srgbClr val="55B3FD"/>
      </a:accent4>
      <a:accent5>
        <a:srgbClr val="99F7F7"/>
      </a:accent5>
      <a:accent6>
        <a:srgbClr val="FEE43F"/>
      </a:accent6>
      <a:hlink>
        <a:srgbClr val="467886"/>
      </a:hlink>
      <a:folHlink>
        <a:srgbClr val="96607D"/>
      </a:folHlink>
    </a:clrScheme>
    <a:fontScheme name="Custom 23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34076243_win32_CP_V3" id="{81AB0711-29F9-49D0-8A73-16AF25FD4C08}" vid="{D5AD44AB-53B9-4654-A4F8-1821A28F277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9" ma:contentTypeDescription="Create a new document." ma:contentTypeScope="" ma:versionID="6a914531ae0f23be31da2eba1f3b42a9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ae00154c9e66547f022c4923f88826d6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0C07E3D-60A7-4F4E-8208-D9CCD01982C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EA9B47F-3DD8-4645-81DC-B88780643C07}">
  <ds:schemaRefs>
    <ds:schemaRef ds:uri="http://purl.org/dc/elements/1.1/"/>
    <ds:schemaRef ds:uri="16c05727-aa75-4e4a-9b5f-8a80a1165891"/>
    <ds:schemaRef ds:uri="http://schemas.openxmlformats.org/package/2006/metadata/core-properties"/>
    <ds:schemaRef ds:uri="http://purl.org/dc/terms/"/>
    <ds:schemaRef ds:uri="http://schemas.microsoft.com/office/infopath/2007/PartnerControls"/>
    <ds:schemaRef ds:uri="http://purl.org/dc/dcmitype/"/>
    <ds:schemaRef ds:uri="230e9df3-be65-4c73-a93b-d1236ebd677e"/>
    <ds:schemaRef ds:uri="http://schemas.microsoft.com/office/2006/documentManagement/types"/>
    <ds:schemaRef ds:uri="http://schemas.microsoft.com/office/2006/metadata/properties"/>
    <ds:schemaRef ds:uri="71af3243-3dd4-4a8d-8c0d-dd76da1f02a5"/>
    <ds:schemaRef ds:uri="http://schemas.microsoft.com/sharepoint/v3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567F3CB5-3475-4129-AB60-D0C937DE910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Blue spheres presentation</Template>
  <TotalTime>419</TotalTime>
  <Words>1297</Words>
  <Application>Microsoft Office PowerPoint</Application>
  <PresentationFormat>Widescreen</PresentationFormat>
  <Paragraphs>413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Aptos</vt:lpstr>
      <vt:lpstr>Arial</vt:lpstr>
      <vt:lpstr>Calibri</vt:lpstr>
      <vt:lpstr>Wingdings</vt:lpstr>
      <vt:lpstr>Custom</vt:lpstr>
      <vt:lpstr>Real-Time Restaurant Management &amp; POS System</vt:lpstr>
      <vt:lpstr>PowerPoint Presentation</vt:lpstr>
      <vt:lpstr>Introduction</vt:lpstr>
      <vt:lpstr>Existing System</vt:lpstr>
      <vt:lpstr>Proposed System</vt:lpstr>
      <vt:lpstr>Modules</vt:lpstr>
      <vt:lpstr>Architecture Diagrams</vt:lpstr>
      <vt:lpstr>Use Case diagram</vt:lpstr>
      <vt:lpstr>Activity diagram</vt:lpstr>
      <vt:lpstr>Activity diagram</vt:lpstr>
      <vt:lpstr>Activity diagram</vt:lpstr>
      <vt:lpstr>Activity diagram</vt:lpstr>
      <vt:lpstr>Class diagram</vt:lpstr>
      <vt:lpstr>Sequence diagram</vt:lpstr>
      <vt:lpstr>Table Designs</vt:lpstr>
      <vt:lpstr>Roles</vt:lpstr>
      <vt:lpstr>Users</vt:lpstr>
      <vt:lpstr>Categories</vt:lpstr>
      <vt:lpstr>MenuItems</vt:lpstr>
      <vt:lpstr>Inventory</vt:lpstr>
      <vt:lpstr>RESTAURANT TABLES</vt:lpstr>
      <vt:lpstr>DINING  SESSIONS</vt:lpstr>
      <vt:lpstr>ORDERS</vt:lpstr>
      <vt:lpstr>ORDER ITEMS</vt:lpstr>
      <vt:lpstr>PAYMENTS</vt:lpstr>
      <vt:lpstr>Form Design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Growth strategies</dc:title>
  <dc:creator>ambadi kj</dc:creator>
  <cp:lastModifiedBy>ambadi kj</cp:lastModifiedBy>
  <cp:revision>43</cp:revision>
  <dcterms:created xsi:type="dcterms:W3CDTF">2026-08-05T10:15:46Z</dcterms:created>
  <dcterms:modified xsi:type="dcterms:W3CDTF">2026-08-05T17:15:01Z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